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8"/>
  </p:notesMasterIdLst>
  <p:sldIdLst>
    <p:sldId id="261" r:id="rId3"/>
    <p:sldId id="265" r:id="rId4"/>
    <p:sldId id="266" r:id="rId5"/>
    <p:sldId id="267" r:id="rId6"/>
    <p:sldId id="268" r:id="rId7"/>
    <p:sldId id="269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  <p:sldId id="301" r:id="rId38"/>
    <p:sldId id="302" r:id="rId39"/>
    <p:sldId id="303" r:id="rId40"/>
    <p:sldId id="304" r:id="rId41"/>
    <p:sldId id="305" r:id="rId42"/>
    <p:sldId id="306" r:id="rId43"/>
    <p:sldId id="307" r:id="rId44"/>
    <p:sldId id="308" r:id="rId45"/>
    <p:sldId id="309" r:id="rId46"/>
    <p:sldId id="310" r:id="rId47"/>
    <p:sldId id="311" r:id="rId48"/>
    <p:sldId id="312" r:id="rId49"/>
    <p:sldId id="313" r:id="rId50"/>
    <p:sldId id="314" r:id="rId51"/>
    <p:sldId id="318" r:id="rId52"/>
    <p:sldId id="319" r:id="rId53"/>
    <p:sldId id="320" r:id="rId54"/>
    <p:sldId id="315" r:id="rId55"/>
    <p:sldId id="316" r:id="rId56"/>
    <p:sldId id="317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rl Quesnel" initials="CQ" lastIdx="2" clrIdx="0">
    <p:extLst>
      <p:ext uri="{19B8F6BF-5375-455C-9EA6-DF929625EA0E}">
        <p15:presenceInfo xmlns:p15="http://schemas.microsoft.com/office/powerpoint/2012/main" userId="67f343fd801ba69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C711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3" autoAdjust="0"/>
    <p:restoredTop sz="94660"/>
  </p:normalViewPr>
  <p:slideViewPr>
    <p:cSldViewPr snapToGrid="0">
      <p:cViewPr varScale="1">
        <p:scale>
          <a:sx n="93" d="100"/>
          <a:sy n="93" d="100"/>
        </p:scale>
        <p:origin x="224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viewProps" Target="view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commentAuthors" Target="commentAuthor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10D196-809C-4717-95BB-AE358DE334D6}" type="datetimeFigureOut">
              <a:rPr lang="en-US" smtClean="0"/>
              <a:t>2/27/21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36C655-BBB6-431D-8175-ADE87A523D1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541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9E56E-4329-41AB-B5FB-C378829D7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27333-F4B5-4994-AA61-FB347228E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Click to edit </a:t>
            </a:r>
            <a:r>
              <a:rPr lang="en-US"/>
              <a:t>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DCDE8-87B0-4B26-B5CA-2FB0A1D67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DD37D-8A13-4F5A-9123-DC1227D13A67}" type="datetime1">
              <a:rPr lang="en-US" smtClean="0"/>
              <a:t>2/27/21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9BBA5-C4C8-4D9E-A690-9F77C92C5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A639B-4CD5-4590-8DC6-7CE90A2B1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667B5-7361-4947-AC4E-6739B4EFA9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277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3B841-90FB-49E9-9A1A-4E7F024D63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308497-F316-4F87-B8DE-8638F9D3B3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D4FD7-37AF-45F5-BB13-A55F3DC4E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2624" y="6438637"/>
            <a:ext cx="2743200" cy="374463"/>
          </a:xfrm>
        </p:spPr>
        <p:txBody>
          <a:bodyPr/>
          <a:lstStyle>
            <a:lvl1pPr>
              <a:defRPr baseline="0">
                <a:solidFill>
                  <a:srgbClr val="E4C711"/>
                </a:solidFill>
              </a:defRPr>
            </a:lvl1pPr>
          </a:lstStyle>
          <a:p>
            <a:fld id="{C2072F39-BFF9-4E74-AA69-57E4EE92C63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B60C183-D5C2-46AB-B2EA-DEEB38B7DC1E}"/>
              </a:ext>
            </a:extLst>
          </p:cNvPr>
          <p:cNvSpPr txBox="1">
            <a:spLocks/>
          </p:cNvSpPr>
          <p:nvPr userDrawn="1"/>
        </p:nvSpPr>
        <p:spPr>
          <a:xfrm>
            <a:off x="2075329" y="6428869"/>
            <a:ext cx="143883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 baseline="0">
                <a:solidFill>
                  <a:srgbClr val="FFC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E4C711"/>
                </a:solidFill>
              </a:rPr>
              <a:t>Chapter - 5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37386-6E7D-4A63-8FC1-BAA5590E2248}"/>
              </a:ext>
            </a:extLst>
          </p:cNvPr>
          <p:cNvSpPr txBox="1">
            <a:spLocks/>
          </p:cNvSpPr>
          <p:nvPr userDrawn="1"/>
        </p:nvSpPr>
        <p:spPr>
          <a:xfrm>
            <a:off x="3702423" y="6428868"/>
            <a:ext cx="452717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 baseline="0">
                <a:solidFill>
                  <a:srgbClr val="FFC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E4C711"/>
                </a:solidFill>
              </a:rPr>
              <a:t>Apache Pig and Pig Latin</a:t>
            </a:r>
          </a:p>
        </p:txBody>
      </p:sp>
    </p:spTree>
    <p:extLst>
      <p:ext uri="{BB962C8B-B14F-4D97-AF65-F5344CB8AC3E}">
        <p14:creationId xmlns:p14="http://schemas.microsoft.com/office/powerpoint/2010/main" val="427373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8FFE0-57E6-4565-A357-2BC387F1F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97F79-F4F4-4817-813B-C56C30B5C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7718" y="1825625"/>
            <a:ext cx="5186081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5212976" cy="4351338"/>
          </a:xfr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>
              <a:lnSpc>
                <a:spcPct val="100000"/>
              </a:lnSpc>
              <a:defRPr lang="en-US" dirty="0"/>
            </a:lvl2pPr>
            <a:lvl3pPr>
              <a:lnSpc>
                <a:spcPct val="100000"/>
              </a:lnSpc>
              <a:defRPr lang="en-US" dirty="0"/>
            </a:lvl3pPr>
            <a:lvl4pPr>
              <a:lnSpc>
                <a:spcPct val="100000"/>
              </a:lnSpc>
              <a:defRPr lang="en-US" dirty="0"/>
            </a:lvl4pPr>
            <a:lvl5pPr>
              <a:lnSpc>
                <a:spcPct val="100000"/>
              </a:lnSpc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54ED114-1029-4EBF-980F-5A3A0976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2624" y="6438637"/>
            <a:ext cx="2743200" cy="374463"/>
          </a:xfrm>
        </p:spPr>
        <p:txBody>
          <a:bodyPr/>
          <a:lstStyle>
            <a:lvl1pPr>
              <a:defRPr baseline="0">
                <a:solidFill>
                  <a:srgbClr val="E4C711"/>
                </a:solidFill>
              </a:defRPr>
            </a:lvl1pPr>
          </a:lstStyle>
          <a:p>
            <a:fld id="{C2072F39-BFF9-4E74-AA69-57E4EE92C63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9D0AD00A-2068-464B-B499-10385B34E106}"/>
              </a:ext>
            </a:extLst>
          </p:cNvPr>
          <p:cNvSpPr txBox="1">
            <a:spLocks/>
          </p:cNvSpPr>
          <p:nvPr userDrawn="1"/>
        </p:nvSpPr>
        <p:spPr>
          <a:xfrm>
            <a:off x="2075329" y="6428869"/>
            <a:ext cx="143883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 baseline="0">
                <a:solidFill>
                  <a:srgbClr val="FFC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E4C711"/>
                </a:solidFill>
              </a:rPr>
              <a:t>Chapter - 5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5C3D479-2D88-46ED-9A76-D3C883D1AF21}"/>
              </a:ext>
            </a:extLst>
          </p:cNvPr>
          <p:cNvSpPr txBox="1">
            <a:spLocks/>
          </p:cNvSpPr>
          <p:nvPr userDrawn="1"/>
        </p:nvSpPr>
        <p:spPr>
          <a:xfrm>
            <a:off x="3702423" y="6428868"/>
            <a:ext cx="452717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 baseline="0">
                <a:solidFill>
                  <a:srgbClr val="FFC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E4C711"/>
                </a:solidFill>
              </a:rPr>
              <a:t>Apache Pig and Pig Latin</a:t>
            </a:r>
          </a:p>
        </p:txBody>
      </p:sp>
    </p:spTree>
    <p:extLst>
      <p:ext uri="{BB962C8B-B14F-4D97-AF65-F5344CB8AC3E}">
        <p14:creationId xmlns:p14="http://schemas.microsoft.com/office/powerpoint/2010/main" val="2482829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C9F11-A162-450C-979B-CBB4AF2A2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360CA1-9CC6-4878-8BFE-C1A9FF325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0FA79FF-B815-48FB-8F11-5A3DFC9B1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2624" y="6438637"/>
            <a:ext cx="2743200" cy="374463"/>
          </a:xfrm>
        </p:spPr>
        <p:txBody>
          <a:bodyPr/>
          <a:lstStyle>
            <a:lvl1pPr>
              <a:defRPr baseline="0">
                <a:solidFill>
                  <a:srgbClr val="E4C711"/>
                </a:solidFill>
              </a:defRPr>
            </a:lvl1pPr>
          </a:lstStyle>
          <a:p>
            <a:fld id="{C2072F39-BFF9-4E74-AA69-57E4EE92C63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0ACA17D-67A9-491D-AA07-4528DEEF3F0A}"/>
              </a:ext>
            </a:extLst>
          </p:cNvPr>
          <p:cNvSpPr txBox="1">
            <a:spLocks/>
          </p:cNvSpPr>
          <p:nvPr userDrawn="1"/>
        </p:nvSpPr>
        <p:spPr>
          <a:xfrm>
            <a:off x="2075329" y="6428869"/>
            <a:ext cx="143883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 baseline="0">
                <a:solidFill>
                  <a:srgbClr val="FFC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E4C711"/>
                </a:solidFill>
              </a:rPr>
              <a:t>Chapter - 5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A11C3-7C60-4CB3-AA56-7E3AB958F926}"/>
              </a:ext>
            </a:extLst>
          </p:cNvPr>
          <p:cNvSpPr txBox="1">
            <a:spLocks/>
          </p:cNvSpPr>
          <p:nvPr userDrawn="1"/>
        </p:nvSpPr>
        <p:spPr>
          <a:xfrm>
            <a:off x="3702423" y="6428868"/>
            <a:ext cx="452717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2000" b="1" i="0" kern="1200" baseline="0">
                <a:solidFill>
                  <a:srgbClr val="FFC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E4C711"/>
                </a:solidFill>
              </a:rPr>
              <a:t>Apache Pig and Pig Latin</a:t>
            </a:r>
          </a:p>
        </p:txBody>
      </p:sp>
    </p:spTree>
    <p:extLst>
      <p:ext uri="{BB962C8B-B14F-4D97-AF65-F5344CB8AC3E}">
        <p14:creationId xmlns:p14="http://schemas.microsoft.com/office/powerpoint/2010/main" val="1068499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49F13C-23D4-4505-9039-C8F724F78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3500"/>
            <a:ext cx="44005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Chapter - 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0047F-BE9E-4A1A-8AA1-BA8406814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790825"/>
            <a:ext cx="4400550" cy="2733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Here comes the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CD87E-6238-46FB-B7B6-F36F6B7E1C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5B42A-6D70-4C3D-88A4-D20C45EC742A}" type="datetime1">
              <a:rPr lang="en-US" smtClean="0"/>
              <a:t>2/27/21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1BB4A-1AEA-47AB-A7E4-046C3E0F97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A3451-7277-4002-A1B8-E97C3C81F3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667B5-7361-4947-AC4E-6739B4EFA9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965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7FE1A4-3E9B-4C5E-B296-A5D7334DD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CB9687-B325-4684-953F-61BC96E57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B114B-7090-423F-8C2B-BEF75E46D6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5016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 i="0" baseline="0">
                <a:solidFill>
                  <a:srgbClr val="FFC000"/>
                </a:solidFill>
              </a:defRPr>
            </a:lvl1pPr>
          </a:lstStyle>
          <a:p>
            <a:fld id="{C2072F39-BFF9-4E74-AA69-57E4EE92C636}" type="slidenum">
              <a:rPr lang="en-US" smtClean="0"/>
              <a:pPr/>
              <a:t>‹#›</a:t>
            </a:fld>
            <a:endParaRPr 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5856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sz="4400" kern="1200">
          <a:solidFill>
            <a:schemeClr val="tx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Apache Pig and Pig Latin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667B5-7361-4947-AC4E-6739B4EFA95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755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2119E-D5D3-40ED-A7EB-ACFCCABE4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Data Application: LinkedIn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4776DC-2F5D-462A-B12E-7775BDF495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Global online community of professionals</a:t>
            </a:r>
          </a:p>
          <a:p>
            <a:r>
              <a:rPr lang="en-US" dirty="0"/>
              <a:t>In 2020, had over 500 million users in over 200 countries</a:t>
            </a:r>
          </a:p>
          <a:p>
            <a:r>
              <a:rPr lang="en-US" dirty="0"/>
              <a:t>Two types of accounts:</a:t>
            </a:r>
          </a:p>
          <a:p>
            <a:pPr lvl="1"/>
            <a:r>
              <a:rPr lang="en-US" dirty="0"/>
              <a:t>Free</a:t>
            </a:r>
          </a:p>
          <a:p>
            <a:pPr lvl="2"/>
            <a:r>
              <a:rPr lang="en-US" dirty="0"/>
              <a:t>Basic features</a:t>
            </a:r>
          </a:p>
          <a:p>
            <a:pPr lvl="1"/>
            <a:r>
              <a:rPr lang="en-US" dirty="0"/>
              <a:t>Premium</a:t>
            </a:r>
          </a:p>
          <a:p>
            <a:pPr lvl="2"/>
            <a:r>
              <a:rPr lang="en-US" dirty="0"/>
              <a:t>Several additional features</a:t>
            </a:r>
          </a:p>
          <a:p>
            <a:pPr lvl="2"/>
            <a:r>
              <a:rPr lang="en-US" dirty="0"/>
              <a:t>“Who viewed your profile“ feature</a:t>
            </a:r>
          </a:p>
          <a:p>
            <a:pPr lvl="2"/>
            <a:r>
              <a:rPr lang="en-US" dirty="0"/>
              <a:t>Uses Pig and Hadoop</a:t>
            </a:r>
          </a:p>
          <a:p>
            <a:r>
              <a:rPr lang="en-US" dirty="0"/>
              <a:t>LinkedIn stores terabytes of data</a:t>
            </a:r>
          </a:p>
          <a:p>
            <a:r>
              <a:rPr lang="en-US" dirty="0"/>
              <a:t>With a series of Pig Latin commands:</a:t>
            </a:r>
          </a:p>
          <a:p>
            <a:pPr lvl="1"/>
            <a:r>
              <a:rPr lang="en-US" dirty="0"/>
              <a:t>Generate a list of people who have viewed the profile during a given period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29CDC3-09C4-45CF-83FB-260D2DAA8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839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20A97-10FB-4D26-81D3-201FEC6AA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FF1423-589C-44D1-9A3C-CF48F286C7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Pig:</a:t>
            </a:r>
          </a:p>
          <a:p>
            <a:pPr lvl="1"/>
            <a:r>
              <a:rPr lang="en-US" dirty="0"/>
              <a:t>Platform for structuring, processing, and analyzing Big Data</a:t>
            </a:r>
          </a:p>
          <a:p>
            <a:pPr lvl="1"/>
            <a:r>
              <a:rPr lang="en-US" dirty="0"/>
              <a:t>Developed by Yahoo</a:t>
            </a:r>
          </a:p>
          <a:p>
            <a:r>
              <a:rPr lang="en-US" dirty="0"/>
              <a:t>Pig commands:</a:t>
            </a:r>
          </a:p>
          <a:p>
            <a:pPr lvl="1"/>
            <a:r>
              <a:rPr lang="en-US" dirty="0"/>
              <a:t>Written in query-based language</a:t>
            </a:r>
          </a:p>
          <a:p>
            <a:pPr lvl="1"/>
            <a:r>
              <a:rPr lang="en-US" dirty="0"/>
              <a:t>Known as Pig Latin</a:t>
            </a:r>
          </a:p>
          <a:p>
            <a:pPr lvl="1"/>
            <a:r>
              <a:rPr lang="en-US" dirty="0"/>
              <a:t>Similar to Structured Query Language (SQL)</a:t>
            </a:r>
          </a:p>
          <a:p>
            <a:pPr lvl="1"/>
            <a:r>
              <a:rPr lang="en-US" dirty="0"/>
              <a:t>Transformed into MapReduce jobs, run in background</a:t>
            </a:r>
          </a:p>
          <a:p>
            <a:pPr lvl="1"/>
            <a:r>
              <a:rPr lang="en-US" dirty="0"/>
              <a:t>Results stored in HDFS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71A8E4-FF32-459C-AB5C-5F39AB8E5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366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6D099-3DBB-4C6F-95DE-0F6658AD2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Objectives: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2B7203-7192-4942-A32B-51B426AACB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Understand the advantages and disadvantages of using Pig for Big Data processing</a:t>
            </a:r>
          </a:p>
          <a:p>
            <a:r>
              <a:rPr lang="en-US" dirty="0"/>
              <a:t>Describe the major components of Pig and its execution modes</a:t>
            </a:r>
          </a:p>
          <a:p>
            <a:r>
              <a:rPr lang="en-US" dirty="0"/>
              <a:t>Explain various data models and data types in Pig</a:t>
            </a:r>
          </a:p>
          <a:p>
            <a:r>
              <a:rPr lang="en-US" dirty="0"/>
              <a:t>Perform Big Data analysis by executing Pig Latin commands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6246F-DD66-4833-B79D-87F19833F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6306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3C3E6-604C-412F-9361-EF70468C5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Pig vs. MapReduce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006313-4BBB-4C98-8022-8C323AB5A6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b="1" i="1" dirty="0"/>
              <a:t>MapReduce:</a:t>
            </a:r>
          </a:p>
          <a:p>
            <a:pPr lvl="1"/>
            <a:r>
              <a:rPr lang="en-US" dirty="0"/>
              <a:t>The programming code should be written by the data scientists</a:t>
            </a:r>
          </a:p>
          <a:p>
            <a:pPr lvl="1"/>
            <a:r>
              <a:rPr lang="en-US" dirty="0"/>
              <a:t>Developing jobs is challenging</a:t>
            </a:r>
          </a:p>
          <a:p>
            <a:pPr lvl="1"/>
            <a:r>
              <a:rPr lang="en-US" dirty="0"/>
              <a:t>Challenging to manage when written for multiple stages/iterative tasks</a:t>
            </a:r>
          </a:p>
          <a:p>
            <a:pPr lvl="1"/>
            <a:r>
              <a:rPr lang="en-US" dirty="0"/>
              <a:t>Every task must be written in terms of mapper and reducer</a:t>
            </a:r>
          </a:p>
          <a:p>
            <a:r>
              <a:rPr lang="en-US" b="1" i="1" dirty="0"/>
              <a:t>Pig:</a:t>
            </a:r>
          </a:p>
          <a:p>
            <a:pPr lvl="1"/>
            <a:r>
              <a:rPr lang="en-US" dirty="0"/>
              <a:t>Created as higher-level data flow platform</a:t>
            </a:r>
          </a:p>
          <a:p>
            <a:pPr lvl="2"/>
            <a:r>
              <a:rPr lang="en-US" dirty="0"/>
              <a:t>To provide a simpler language for queries and data manipulation</a:t>
            </a:r>
          </a:p>
          <a:p>
            <a:pPr lvl="1"/>
            <a:r>
              <a:rPr lang="en-US" dirty="0"/>
              <a:t>Pig commands written in Pig Latin</a:t>
            </a:r>
          </a:p>
          <a:p>
            <a:pPr lvl="2"/>
            <a:r>
              <a:rPr lang="en-US" dirty="0"/>
              <a:t>Upon execution, they are compiled into MapReduce jobs</a:t>
            </a:r>
          </a:p>
          <a:p>
            <a:pPr lvl="2"/>
            <a:r>
              <a:rPr lang="en-US" dirty="0"/>
              <a:t>Are run on Hadoop</a:t>
            </a:r>
          </a:p>
          <a:p>
            <a:pPr lvl="1"/>
            <a:r>
              <a:rPr lang="en-US" dirty="0"/>
              <a:t>No need to know Java or Python</a:t>
            </a:r>
          </a:p>
          <a:p>
            <a:pPr lvl="1"/>
            <a:r>
              <a:rPr lang="en-US" dirty="0"/>
              <a:t>Data flow language similar to SQL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079ADC-B891-4716-A236-614A3D5FD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326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8348F-6C92-4DA7-94C1-1D3F5AD3D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Pig vs. MapReduce (cont.)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D3DFBD-7530-4AB7-A145-F8F804E2C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/>
          <a:p>
            <a:r>
              <a:rPr lang="en-US" dirty="0"/>
              <a:t>Pig scripts:</a:t>
            </a:r>
          </a:p>
          <a:p>
            <a:pPr lvl="1"/>
            <a:r>
              <a:rPr lang="en-US" dirty="0"/>
              <a:t>Easier and faster to write than standard Java MapReduce jobs</a:t>
            </a:r>
          </a:p>
          <a:p>
            <a:r>
              <a:rPr lang="en-US" dirty="0"/>
              <a:t>Pig:</a:t>
            </a:r>
          </a:p>
          <a:p>
            <a:pPr lvl="1"/>
            <a:r>
              <a:rPr lang="en-US" dirty="0"/>
              <a:t>Is not intended to replace MapReduce</a:t>
            </a:r>
          </a:p>
          <a:p>
            <a:pPr lvl="1"/>
            <a:r>
              <a:rPr lang="en-US" dirty="0"/>
              <a:t>Works better with structured data files</a:t>
            </a:r>
          </a:p>
          <a:p>
            <a:pPr lvl="1"/>
            <a:r>
              <a:rPr lang="en-US" dirty="0"/>
              <a:t>Should be avoided with unstructured data:</a:t>
            </a:r>
          </a:p>
          <a:p>
            <a:pPr lvl="2"/>
            <a:r>
              <a:rPr lang="en-US" dirty="0"/>
              <a:t>Video, audio, raw text files</a:t>
            </a:r>
          </a:p>
          <a:p>
            <a:pPr lvl="1"/>
            <a:r>
              <a:rPr lang="en-US" dirty="0"/>
              <a:t>Command execution slower than that of MapReduce jobs</a:t>
            </a:r>
          </a:p>
          <a:p>
            <a:pPr lvl="2"/>
            <a:r>
              <a:rPr lang="en-US" dirty="0"/>
              <a:t>Due to additional layer (compilations) required to translate the Pig commands into mappers and reducers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EB2719-A6AE-4B0C-A451-1E16D47B7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071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3CD4B1-3AB8-4B00-AB66-45E47A29D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B4801A5F-7922-4362-AE38-71FC950D639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336582" y="1099752"/>
            <a:ext cx="3518836" cy="4386647"/>
          </a:xfrm>
          <a:prstGeom prst="rect">
            <a:avLst/>
          </a:prstGeom>
          <a:ln>
            <a:solidFill>
              <a:schemeClr val="accent1"/>
            </a:solidFill>
          </a:ln>
          <a:effectLst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8A65281-02DA-482E-8C48-EC9E591FA0AB}"/>
              </a:ext>
            </a:extLst>
          </p:cNvPr>
          <p:cNvSpPr txBox="1"/>
          <p:nvPr/>
        </p:nvSpPr>
        <p:spPr>
          <a:xfrm>
            <a:off x="3048000" y="5604359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1" dirty="0">
                <a:solidFill>
                  <a:schemeClr val="accent1"/>
                </a:solidFill>
              </a:rPr>
              <a:t>Figure 5-1: Pig Architecture Components</a:t>
            </a:r>
          </a:p>
        </p:txBody>
      </p:sp>
    </p:spTree>
    <p:extLst>
      <p:ext uri="{BB962C8B-B14F-4D97-AF65-F5344CB8AC3E}">
        <p14:creationId xmlns:p14="http://schemas.microsoft.com/office/powerpoint/2010/main" val="934339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B8E21-6206-4052-ADE4-30904D247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Pig Components and the Execution Modes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4F58BE-0C37-43DE-82EB-0364A9E739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Parser:</a:t>
            </a:r>
          </a:p>
          <a:p>
            <a:pPr lvl="1"/>
            <a:r>
              <a:rPr lang="en-US" dirty="0"/>
              <a:t>Checks the syntax of Pig Latin commands</a:t>
            </a:r>
          </a:p>
          <a:p>
            <a:r>
              <a:rPr lang="en-US" dirty="0"/>
              <a:t>Optimizer:</a:t>
            </a:r>
          </a:p>
          <a:p>
            <a:pPr lvl="1"/>
            <a:r>
              <a:rPr lang="en-US" dirty="0"/>
              <a:t>Improves the efficiency of the upcoming MapReduce jobs:</a:t>
            </a:r>
          </a:p>
          <a:p>
            <a:pPr lvl="2"/>
            <a:r>
              <a:rPr lang="en-US" dirty="0"/>
              <a:t>Converted by the complier</a:t>
            </a:r>
          </a:p>
          <a:p>
            <a:r>
              <a:rPr lang="en-US" dirty="0"/>
              <a:t>Logical optimizations:</a:t>
            </a:r>
          </a:p>
          <a:p>
            <a:pPr lvl="1"/>
            <a:r>
              <a:rPr lang="en-US" dirty="0"/>
              <a:t>Deciding on optimal number of MapReduce jobs</a:t>
            </a:r>
          </a:p>
          <a:p>
            <a:pPr lvl="1"/>
            <a:r>
              <a:rPr lang="en-US" dirty="0"/>
              <a:t>Balancing the workload on DataNodes during the map and reduce stages</a:t>
            </a:r>
          </a:p>
          <a:p>
            <a:pPr lvl="1"/>
            <a:r>
              <a:rPr lang="en-US" dirty="0"/>
              <a:t>Minimizing the amount of data shuffled during the shuffle stage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658C6-66EF-436C-9FBF-D920F906F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050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9711B-6BCC-4C62-9085-68ACDD90D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Pig Components and the Execution Modes (cont.)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09BB9A-A1C9-4310-9492-F790DC7D1A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Complier:</a:t>
            </a:r>
          </a:p>
          <a:p>
            <a:pPr lvl="1"/>
            <a:r>
              <a:rPr lang="en-US" dirty="0"/>
              <a:t>Provides an execution layer that produces sequences of MapReduce jobs</a:t>
            </a:r>
          </a:p>
          <a:p>
            <a:r>
              <a:rPr lang="en-US" dirty="0"/>
              <a:t>Execution layer found in:</a:t>
            </a:r>
          </a:p>
          <a:p>
            <a:pPr lvl="1"/>
            <a:r>
              <a:rPr lang="en-US" dirty="0"/>
              <a:t>Local environment:</a:t>
            </a:r>
          </a:p>
          <a:p>
            <a:pPr lvl="2"/>
            <a:r>
              <a:rPr lang="en-US" dirty="0"/>
              <a:t>Consists of JVM</a:t>
            </a:r>
          </a:p>
          <a:p>
            <a:pPr lvl="2"/>
            <a:r>
              <a:rPr lang="en-US" dirty="0"/>
              <a:t>Known as “local mode”</a:t>
            </a:r>
          </a:p>
          <a:p>
            <a:pPr lvl="2"/>
            <a:r>
              <a:rPr lang="en-US" dirty="0"/>
              <a:t>Recommended when dealing with small datasets</a:t>
            </a:r>
          </a:p>
          <a:p>
            <a:pPr lvl="1"/>
            <a:r>
              <a:rPr lang="en-US" dirty="0"/>
              <a:t> Distributed execution environment:</a:t>
            </a:r>
          </a:p>
          <a:p>
            <a:pPr lvl="2"/>
            <a:r>
              <a:rPr lang="en-US" dirty="0"/>
              <a:t>Called the “MapReduce mode”</a:t>
            </a:r>
          </a:p>
          <a:p>
            <a:pPr lvl="2"/>
            <a:r>
              <a:rPr lang="en-US" dirty="0"/>
              <a:t>Pig resides on user’s machine</a:t>
            </a:r>
          </a:p>
          <a:p>
            <a:pPr lvl="2"/>
            <a:r>
              <a:rPr lang="en-US" dirty="0"/>
              <a:t>The compiled MapReduce jobs are executed on the Hadoop cluster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EF6DA5-6F0B-4E5B-B57D-A3CA99721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067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208D2-DF53-4595-82FB-B72DDFF23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Pig Components and the Execution Modes (cont.)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E72F49-B52C-43A7-9B6B-D99A7165DF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1" y="1825625"/>
            <a:ext cx="5766786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Pig Latin commands:</a:t>
            </a:r>
          </a:p>
          <a:p>
            <a:pPr lvl="1"/>
            <a:r>
              <a:rPr lang="en-US" dirty="0"/>
              <a:t>Executed using the interactive </a:t>
            </a:r>
            <a:r>
              <a:rPr lang="en-US" b="1" dirty="0"/>
              <a:t>grunt&gt; </a:t>
            </a:r>
            <a:r>
              <a:rPr lang="en-US" dirty="0"/>
              <a:t>shell</a:t>
            </a:r>
          </a:p>
          <a:p>
            <a:r>
              <a:rPr lang="en-US" dirty="0"/>
              <a:t>To invoke grunt&gt;:</a:t>
            </a:r>
          </a:p>
          <a:p>
            <a:pPr lvl="1"/>
            <a:r>
              <a:rPr lang="en-US" dirty="0"/>
              <a:t>In local mode:</a:t>
            </a:r>
          </a:p>
          <a:p>
            <a:pPr lvl="2"/>
            <a:r>
              <a:rPr lang="en-US" i="1" dirty="0"/>
              <a:t>$ pig –x </a:t>
            </a:r>
            <a:r>
              <a:rPr lang="en-US" dirty="0"/>
              <a:t>command is used</a:t>
            </a:r>
          </a:p>
          <a:p>
            <a:pPr lvl="1"/>
            <a:r>
              <a:rPr lang="en-US" dirty="0"/>
              <a:t>In MapReduce mode:</a:t>
            </a:r>
          </a:p>
          <a:p>
            <a:pPr lvl="2"/>
            <a:r>
              <a:rPr lang="en-US" i="1" dirty="0"/>
              <a:t>$ ./pig –x mapreduce</a:t>
            </a:r>
            <a:r>
              <a:rPr lang="en-US" dirty="0"/>
              <a:t> is used</a:t>
            </a:r>
          </a:p>
          <a:p>
            <a:r>
              <a:rPr lang="en-US" dirty="0"/>
              <a:t>Running Pig Latin operators:</a:t>
            </a:r>
          </a:p>
          <a:p>
            <a:pPr lvl="1"/>
            <a:r>
              <a:rPr lang="en-US" dirty="0"/>
              <a:t>Interactive mode</a:t>
            </a:r>
          </a:p>
          <a:p>
            <a:pPr lvl="1"/>
            <a:r>
              <a:rPr lang="en-US" dirty="0"/>
              <a:t>Noninteractive shell (script mode)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F53FAD-175E-4AB3-A313-F0E821FCA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Text Box 660089884">
            <a:extLst>
              <a:ext uri="{FF2B5EF4-FFF2-40B4-BE49-F238E27FC236}">
                <a16:creationId xmlns:a16="http://schemas.microsoft.com/office/drawing/2014/main" id="{AF4A46D2-B51F-4757-A16E-78B7AB1EA7D7}"/>
              </a:ext>
            </a:extLst>
          </p:cNvPr>
          <p:cNvSpPr txBox="1"/>
          <p:nvPr/>
        </p:nvSpPr>
        <p:spPr>
          <a:xfrm>
            <a:off x="6960358" y="3191840"/>
            <a:ext cx="4304531" cy="646331"/>
          </a:xfrm>
          <a:prstGeom prst="rect">
            <a:avLst/>
          </a:prstGeom>
          <a:solidFill>
            <a:srgbClr val="C6D9F1"/>
          </a:solidFill>
          <a:ln w="6350">
            <a:solidFill>
              <a:srgbClr val="000000"/>
            </a:solidFill>
          </a:ln>
        </p:spPr>
        <p:txBody>
          <a:bodyPr rot="0" spcFirstLastPara="0" vert="horz" wrap="square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 pig -x local my_script.pig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 pig -x MapReduce my_script.pig 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4796E8-B301-4AED-AF8E-4BE9C6960068}"/>
              </a:ext>
            </a:extLst>
          </p:cNvPr>
          <p:cNvSpPr txBox="1"/>
          <p:nvPr/>
        </p:nvSpPr>
        <p:spPr>
          <a:xfrm>
            <a:off x="6217091" y="1696391"/>
            <a:ext cx="472574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Run Pig scripts in a noninteractive shell: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en-US" sz="2000" dirty="0"/>
              <a:t>In local environment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en-US" sz="2000" dirty="0"/>
              <a:t>MapReduce mode</a:t>
            </a:r>
          </a:p>
        </p:txBody>
      </p:sp>
    </p:spTree>
    <p:extLst>
      <p:ext uri="{BB962C8B-B14F-4D97-AF65-F5344CB8AC3E}">
        <p14:creationId xmlns:p14="http://schemas.microsoft.com/office/powerpoint/2010/main" val="1555287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02061-85B7-4AAD-83DA-0461EF3E2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Pig Latin Data Types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34E213-8F7C-4EE7-BDCF-9151675AD8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/>
          <a:p>
            <a:r>
              <a:rPr lang="en-US" dirty="0"/>
              <a:t>Four basic types:</a:t>
            </a:r>
          </a:p>
          <a:p>
            <a:pPr lvl="1"/>
            <a:r>
              <a:rPr lang="en-US" dirty="0"/>
              <a:t>Atom</a:t>
            </a:r>
          </a:p>
          <a:p>
            <a:pPr lvl="1"/>
            <a:r>
              <a:rPr lang="en-US" dirty="0"/>
              <a:t>Tuple</a:t>
            </a:r>
          </a:p>
          <a:p>
            <a:pPr lvl="1"/>
            <a:r>
              <a:rPr lang="en-US" dirty="0"/>
              <a:t>Bag</a:t>
            </a:r>
          </a:p>
          <a:p>
            <a:pPr lvl="1"/>
            <a:r>
              <a:rPr lang="en-US" dirty="0"/>
              <a:t>Map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5F33CD-3437-4737-B5C1-0A4785A1F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036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E6C14-2C46-49D6-8E4C-FE146BA18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Pig Latin Data Type: Atom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611BAC-65D1-4EE2-9F27-7C414742FD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The simplest, indivisible (atomic) value</a:t>
            </a:r>
          </a:p>
          <a:p>
            <a:r>
              <a:rPr lang="en-US" dirty="0"/>
              <a:t>Stored as:</a:t>
            </a:r>
          </a:p>
          <a:p>
            <a:pPr lvl="1"/>
            <a:r>
              <a:rPr lang="en-US" dirty="0"/>
              <a:t>int</a:t>
            </a:r>
          </a:p>
          <a:p>
            <a:pPr lvl="1"/>
            <a:r>
              <a:rPr lang="en-US" dirty="0"/>
              <a:t>long</a:t>
            </a:r>
          </a:p>
          <a:p>
            <a:pPr lvl="1"/>
            <a:r>
              <a:rPr lang="en-US" dirty="0"/>
              <a:t>double</a:t>
            </a:r>
          </a:p>
          <a:p>
            <a:pPr lvl="1"/>
            <a:r>
              <a:rPr lang="en-US" dirty="0"/>
              <a:t>float</a:t>
            </a:r>
          </a:p>
          <a:p>
            <a:pPr lvl="1"/>
            <a:r>
              <a:rPr lang="en-US" dirty="0" err="1"/>
              <a:t>chararray</a:t>
            </a:r>
            <a:endParaRPr lang="en-US" dirty="0"/>
          </a:p>
          <a:p>
            <a:pPr lvl="1"/>
            <a:r>
              <a:rPr lang="en-US" dirty="0" err="1"/>
              <a:t>bytearray</a:t>
            </a:r>
            <a:endParaRPr lang="en-US" dirty="0"/>
          </a:p>
          <a:p>
            <a:pPr lvl="1"/>
            <a:r>
              <a:rPr lang="en-US" dirty="0" err="1"/>
              <a:t>boolean</a:t>
            </a: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3DBE8C-A773-475D-85B6-ABBFDCF9B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01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4A36FC-B207-44C8-9538-5D9D0FCFF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13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E06AA67-CA34-4EE1-BAD1-C87A0FD20F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763863"/>
              </p:ext>
            </p:extLst>
          </p:nvPr>
        </p:nvGraphicFramePr>
        <p:xfrm>
          <a:off x="1487012" y="1060383"/>
          <a:ext cx="9217975" cy="5173472"/>
        </p:xfrm>
        <a:graphic>
          <a:graphicData uri="http://schemas.openxmlformats.org/drawingml/2006/table">
            <a:tbl>
              <a:tblPr firstRow="1" firstCol="1" bandRow="1">
                <a:tableStyleId>{5FD0F851-EC5A-4D38-B0AD-8093EC10F338}</a:tableStyleId>
              </a:tblPr>
              <a:tblGrid>
                <a:gridCol w="1272230">
                  <a:extLst>
                    <a:ext uri="{9D8B030D-6E8A-4147-A177-3AD203B41FA5}">
                      <a16:colId xmlns:a16="http://schemas.microsoft.com/office/drawing/2014/main" val="1738409140"/>
                    </a:ext>
                  </a:extLst>
                </a:gridCol>
                <a:gridCol w="2711116">
                  <a:extLst>
                    <a:ext uri="{9D8B030D-6E8A-4147-A177-3AD203B41FA5}">
                      <a16:colId xmlns:a16="http://schemas.microsoft.com/office/drawing/2014/main" val="2642654070"/>
                    </a:ext>
                  </a:extLst>
                </a:gridCol>
                <a:gridCol w="5234629">
                  <a:extLst>
                    <a:ext uri="{9D8B030D-6E8A-4147-A177-3AD203B41FA5}">
                      <a16:colId xmlns:a16="http://schemas.microsoft.com/office/drawing/2014/main" val="41907933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Data Type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Description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Explanation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2186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int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 32-bit signed integer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Any integer in the range:</a:t>
                      </a: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-2,147,483,648 to 2,147,483,647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14404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long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 64-bit signed integer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Any integer in the range:</a:t>
                      </a: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-9,223,372,036,854,775,808 to 9,223,372,036,854,775,807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5028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float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 32-bit floating-point 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 system that uses a fixed number of digits to represent numbers of different orders of magnitude. For example, 1.234 is represented as 1234*10</a:t>
                      </a:r>
                      <a:r>
                        <a:rPr lang="en-US" sz="1600" baseline="30000" dirty="0">
                          <a:effectLst/>
                        </a:rPr>
                        <a:t>-3</a:t>
                      </a:r>
                      <a:r>
                        <a:rPr lang="en-US" sz="1600" dirty="0">
                          <a:effectLst/>
                        </a:rPr>
                        <a:t>, and 123,400 is represented as 1234*10</a:t>
                      </a:r>
                      <a:r>
                        <a:rPr lang="en-US" sz="1600" baseline="30000" dirty="0">
                          <a:effectLst/>
                        </a:rPr>
                        <a:t>2</a:t>
                      </a:r>
                      <a:r>
                        <a:rPr lang="en-US" sz="1600" dirty="0">
                          <a:effectLst/>
                        </a:rPr>
                        <a:t> [65].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14168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double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 64-bit floating-point 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Similar to float but for a much larger set of numbers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00870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chararray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 character array similar to a string in Java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Examples: "Tirana", "Hello, World!", "I love Big Data"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000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bytearray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An array that represents bytes; the default data type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If an atom is of bytearray data type, the function size() for that atom returns the number of bytes in the array.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14005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boolean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Represents true/false values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Yes/No, open/close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003990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25BC618-E7E0-4878-988F-DEAA30241E0A}"/>
              </a:ext>
            </a:extLst>
          </p:cNvPr>
          <p:cNvSpPr txBox="1"/>
          <p:nvPr/>
        </p:nvSpPr>
        <p:spPr>
          <a:xfrm>
            <a:off x="3047999" y="650215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600"/>
              </a:spcAft>
            </a:pPr>
            <a:r>
              <a:rPr lang="en-US" sz="1400" b="1" i="1" dirty="0">
                <a:solidFill>
                  <a:schemeClr val="accent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Table 5‑1: Primitive Data Types in Pig Latin</a:t>
            </a:r>
          </a:p>
        </p:txBody>
      </p:sp>
    </p:spTree>
    <p:extLst>
      <p:ext uri="{BB962C8B-B14F-4D97-AF65-F5344CB8AC3E}">
        <p14:creationId xmlns:p14="http://schemas.microsoft.com/office/powerpoint/2010/main" val="1485551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7E9B1-DEC5-41AA-8392-AD6638908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Pig Latin Data Type: Tuple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F12050-C0DC-4769-B336-528886C2F7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The atomic values combined:</a:t>
            </a:r>
          </a:p>
          <a:p>
            <a:pPr lvl="1"/>
            <a:r>
              <a:rPr lang="en-US" dirty="0"/>
              <a:t>To create a set of values called tuples</a:t>
            </a:r>
          </a:p>
          <a:p>
            <a:r>
              <a:rPr lang="en-US" dirty="0"/>
              <a:t>Sequence of atoms that can be any of the data types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('Paris', 0.25)</a:t>
            </a:r>
          </a:p>
          <a:p>
            <a:pPr lvl="1"/>
            <a:r>
              <a:rPr lang="en-US" dirty="0"/>
              <a:t>(3.14, 'circle', 'teacher', 'Chatty', 1994, 'YES')</a:t>
            </a:r>
          </a:p>
          <a:p>
            <a:pPr lvl="1"/>
            <a:r>
              <a:rPr lang="en-US" dirty="0"/>
              <a:t>('World Cup', 'Euro 2020', 2020)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94397B-0E8A-4840-974B-07170C8C8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1633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EB137-9B0D-41BA-9EBB-2EA9C63C4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Pig Latin Data Type: Bag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0F2226-A406-4134-815D-B6ED01C624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Collection of tuples and atoms of potentially varying structures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{('Tirana'), ('World Cup', 'Euro 2020', 2020)}</a:t>
            </a:r>
          </a:p>
          <a:p>
            <a:pPr lvl="1"/>
            <a:r>
              <a:rPr lang="en-US" dirty="0"/>
              <a:t>{('Yes', 2020), ('Paris', 0.25)}</a:t>
            </a:r>
          </a:p>
          <a:p>
            <a:pPr lvl="1"/>
            <a:r>
              <a:rPr lang="en-US" dirty="0"/>
              <a:t>{('I love Big Data'), ('Hello, World!', ('Paris', 0.25))}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24ECF0-71D4-41F7-AF24-67F3DA92C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91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97158-0702-427A-90BD-B90C83506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Pig Latin Data Type: Map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BF3D22-9B0D-4F30-8F48-4C53E3378C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/>
          <a:p>
            <a:r>
              <a:rPr lang="en-US" dirty="0"/>
              <a:t>Associative array in the form of a key-value pair</a:t>
            </a:r>
          </a:p>
          <a:p>
            <a:r>
              <a:rPr lang="en-US" dirty="0"/>
              <a:t>The key =&gt; chararray data type</a:t>
            </a:r>
          </a:p>
          <a:p>
            <a:r>
              <a:rPr lang="en-US" dirty="0"/>
              <a:t>The value =&gt; any data type</a:t>
            </a:r>
          </a:p>
          <a:p>
            <a:r>
              <a:rPr lang="en-US" dirty="0"/>
              <a:t>The key and value are separated by a "#"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['Albania'#'Tirana']</a:t>
            </a:r>
          </a:p>
          <a:p>
            <a:pPr lvl="1"/>
            <a:r>
              <a:rPr lang="en-US" dirty="0"/>
              <a:t>['capitals'#('Tirana', 'Paris')]</a:t>
            </a:r>
          </a:p>
          <a:p>
            <a:pPr lvl="1"/>
            <a:r>
              <a:rPr lang="en-US" dirty="0"/>
              <a:t>['cities'#{'capitals', ('Chatty', ('World Cup', 'Euro 2020', 2020))}]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464F1F-586C-423E-84C0-263B98B6D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5460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C2916F-35C6-43BA-A166-F0F513312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17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B11EEBA-E766-4BC9-B809-8EF23848E9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546591"/>
              </p:ext>
            </p:extLst>
          </p:nvPr>
        </p:nvGraphicFramePr>
        <p:xfrm>
          <a:off x="421240" y="584776"/>
          <a:ext cx="11133131" cy="5688448"/>
        </p:xfrm>
        <a:graphic>
          <a:graphicData uri="http://schemas.openxmlformats.org/drawingml/2006/table">
            <a:tbl>
              <a:tblPr firstRow="1" firstCol="1" bandRow="1">
                <a:tableStyleId>{5FD0F851-EC5A-4D38-B0AD-8093EC10F338}</a:tableStyleId>
              </a:tblPr>
              <a:tblGrid>
                <a:gridCol w="1825054">
                  <a:extLst>
                    <a:ext uri="{9D8B030D-6E8A-4147-A177-3AD203B41FA5}">
                      <a16:colId xmlns:a16="http://schemas.microsoft.com/office/drawing/2014/main" val="4274621715"/>
                    </a:ext>
                  </a:extLst>
                </a:gridCol>
                <a:gridCol w="2135308">
                  <a:extLst>
                    <a:ext uri="{9D8B030D-6E8A-4147-A177-3AD203B41FA5}">
                      <a16:colId xmlns:a16="http://schemas.microsoft.com/office/drawing/2014/main" val="1511842282"/>
                    </a:ext>
                  </a:extLst>
                </a:gridCol>
                <a:gridCol w="7172769">
                  <a:extLst>
                    <a:ext uri="{9D8B030D-6E8A-4147-A177-3AD203B41FA5}">
                      <a16:colId xmlns:a16="http://schemas.microsoft.com/office/drawing/2014/main" val="4120215105"/>
                    </a:ext>
                  </a:extLst>
                </a:gridCol>
              </a:tblGrid>
              <a:tr h="311008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Category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811" marR="4481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Operator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811" marR="4481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Description 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811" marR="44811" marT="0" marB="0"/>
                </a:tc>
                <a:extLst>
                  <a:ext uri="{0D108BD9-81ED-4DB2-BD59-A6C34878D82A}">
                    <a16:rowId xmlns:a16="http://schemas.microsoft.com/office/drawing/2014/main" val="2408554797"/>
                  </a:ext>
                </a:extLst>
              </a:tr>
              <a:tr h="311008">
                <a:tc rowSpan="3"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Loading and Storing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811" marR="4481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LOAD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811" marR="4481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Load files from the cluster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811" marR="44811" marT="0" marB="0"/>
                </a:tc>
                <a:extLst>
                  <a:ext uri="{0D108BD9-81ED-4DB2-BD59-A6C34878D82A}">
                    <a16:rowId xmlns:a16="http://schemas.microsoft.com/office/drawing/2014/main" val="1973236529"/>
                  </a:ext>
                </a:extLst>
              </a:tr>
              <a:tr h="3110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STORE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811" marR="4481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Store files to the cluster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811" marR="44811" marT="0" marB="0"/>
                </a:tc>
                <a:extLst>
                  <a:ext uri="{0D108BD9-81ED-4DB2-BD59-A6C34878D82A}">
                    <a16:rowId xmlns:a16="http://schemas.microsoft.com/office/drawing/2014/main" val="308798775"/>
                  </a:ext>
                </a:extLst>
              </a:tr>
              <a:tr h="3110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DUMP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811" marR="4481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Display results on the screen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811" marR="44811" marT="0" marB="0"/>
                </a:tc>
                <a:extLst>
                  <a:ext uri="{0D108BD9-81ED-4DB2-BD59-A6C34878D82A}">
                    <a16:rowId xmlns:a16="http://schemas.microsoft.com/office/drawing/2014/main" val="4251280155"/>
                  </a:ext>
                </a:extLst>
              </a:tr>
              <a:tr h="311008">
                <a:tc rowSpan="4"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Filtering and Sorting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811" marR="4481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FILTER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811" marR="4481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Filter records, similar to </a:t>
                      </a:r>
                      <a:r>
                        <a:rPr lang="en-US" sz="1800" i="1" dirty="0">
                          <a:effectLst/>
                        </a:rPr>
                        <a:t>where</a:t>
                      </a:r>
                      <a:r>
                        <a:rPr lang="en-US" sz="1800" dirty="0">
                          <a:effectLst/>
                        </a:rPr>
                        <a:t> in SQL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811" marR="44811" marT="0" marB="0"/>
                </a:tc>
                <a:extLst>
                  <a:ext uri="{0D108BD9-81ED-4DB2-BD59-A6C34878D82A}">
                    <a16:rowId xmlns:a16="http://schemas.microsoft.com/office/drawing/2014/main" val="3735906079"/>
                  </a:ext>
                </a:extLst>
              </a:tr>
              <a:tr h="3314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FOREACH … GENERATE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811" marR="4481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Generate a relation, similar to </a:t>
                      </a:r>
                      <a:r>
                        <a:rPr lang="en-US" sz="1800" i="1" dirty="0">
                          <a:effectLst/>
                        </a:rPr>
                        <a:t>select</a:t>
                      </a:r>
                      <a:r>
                        <a:rPr lang="en-US" sz="1800" dirty="0">
                          <a:effectLst/>
                        </a:rPr>
                        <a:t> in SQL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811" marR="44811" marT="0" marB="0"/>
                </a:tc>
                <a:extLst>
                  <a:ext uri="{0D108BD9-81ED-4DB2-BD59-A6C34878D82A}">
                    <a16:rowId xmlns:a16="http://schemas.microsoft.com/office/drawing/2014/main" val="352460190"/>
                  </a:ext>
                </a:extLst>
              </a:tr>
              <a:tr h="3314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ORDER … BY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811" marR="4481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Sort results in ascending or descending order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811" marR="44811" marT="0" marB="0"/>
                </a:tc>
                <a:extLst>
                  <a:ext uri="{0D108BD9-81ED-4DB2-BD59-A6C34878D82A}">
                    <a16:rowId xmlns:a16="http://schemas.microsoft.com/office/drawing/2014/main" val="3346221956"/>
                  </a:ext>
                </a:extLst>
              </a:tr>
              <a:tr h="3110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LIMIT N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811" marR="4481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Limit the records to only n tuples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811" marR="44811" marT="0" marB="0"/>
                </a:tc>
                <a:extLst>
                  <a:ext uri="{0D108BD9-81ED-4DB2-BD59-A6C34878D82A}">
                    <a16:rowId xmlns:a16="http://schemas.microsoft.com/office/drawing/2014/main" val="2985069698"/>
                  </a:ext>
                </a:extLst>
              </a:tr>
              <a:tr h="331468">
                <a:tc rowSpan="6"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Grouping and Joining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811" marR="4481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JOIN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811" marR="4481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Join two relations by a similar field in each relation, similar to </a:t>
                      </a:r>
                      <a:r>
                        <a:rPr lang="en-US" sz="1800" i="1" dirty="0">
                          <a:effectLst/>
                        </a:rPr>
                        <a:t>join</a:t>
                      </a:r>
                      <a:r>
                        <a:rPr lang="en-US" sz="1800" dirty="0">
                          <a:effectLst/>
                        </a:rPr>
                        <a:t> in SQL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811" marR="44811" marT="0" marB="0"/>
                </a:tc>
                <a:extLst>
                  <a:ext uri="{0D108BD9-81ED-4DB2-BD59-A6C34878D82A}">
                    <a16:rowId xmlns:a16="http://schemas.microsoft.com/office/drawing/2014/main" val="4242433648"/>
                  </a:ext>
                </a:extLst>
              </a:tr>
              <a:tr h="3110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GROUP… BY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811" marR="4481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Group tuples according to a given field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811" marR="44811" marT="0" marB="0"/>
                </a:tc>
                <a:extLst>
                  <a:ext uri="{0D108BD9-81ED-4DB2-BD59-A6C34878D82A}">
                    <a16:rowId xmlns:a16="http://schemas.microsoft.com/office/drawing/2014/main" val="1470154900"/>
                  </a:ext>
                </a:extLst>
              </a:tr>
              <a:tr h="3314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COGROUP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811" marR="4481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Group tuples that have the same group key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811" marR="44811" marT="0" marB="0"/>
                </a:tc>
                <a:extLst>
                  <a:ext uri="{0D108BD9-81ED-4DB2-BD59-A6C34878D82A}">
                    <a16:rowId xmlns:a16="http://schemas.microsoft.com/office/drawing/2014/main" val="3924206878"/>
                  </a:ext>
                </a:extLst>
              </a:tr>
              <a:tr h="3314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UNION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811" marR="4481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A simple combination of two or more relations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811" marR="44811" marT="0" marB="0"/>
                </a:tc>
                <a:extLst>
                  <a:ext uri="{0D108BD9-81ED-4DB2-BD59-A6C34878D82A}">
                    <a16:rowId xmlns:a16="http://schemas.microsoft.com/office/drawing/2014/main" val="3859335808"/>
                  </a:ext>
                </a:extLst>
              </a:tr>
              <a:tr h="53496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TOKENIZE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811" marR="4481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Create tokens (words) from a text line that is loaded as a chararray data type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811" marR="44811" marT="0" marB="0"/>
                </a:tc>
                <a:extLst>
                  <a:ext uri="{0D108BD9-81ED-4DB2-BD59-A6C34878D82A}">
                    <a16:rowId xmlns:a16="http://schemas.microsoft.com/office/drawing/2014/main" val="1440164617"/>
                  </a:ext>
                </a:extLst>
              </a:tr>
              <a:tr h="3314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FLATTEN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811" marR="4481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Flatten the file by un-nesting tuples and bags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811" marR="44811" marT="0" marB="0"/>
                </a:tc>
                <a:extLst>
                  <a:ext uri="{0D108BD9-81ED-4DB2-BD59-A6C34878D82A}">
                    <a16:rowId xmlns:a16="http://schemas.microsoft.com/office/drawing/2014/main" val="1644546767"/>
                  </a:ext>
                </a:extLst>
              </a:tr>
              <a:tr h="331468">
                <a:tc rowSpan="3"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Diagnostic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811" marR="4481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DESCRIBE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811" marR="4481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Display the structure and data types of a relation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811" marR="44811" marT="0" marB="0"/>
                </a:tc>
                <a:extLst>
                  <a:ext uri="{0D108BD9-81ED-4DB2-BD59-A6C34878D82A}">
                    <a16:rowId xmlns:a16="http://schemas.microsoft.com/office/drawing/2014/main" val="3479071034"/>
                  </a:ext>
                </a:extLst>
              </a:tr>
              <a:tr h="3314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EXPLAIN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811" marR="4481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Display the logical, physical, and MapReduce plan of a relation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811" marR="44811" marT="0" marB="0"/>
                </a:tc>
                <a:extLst>
                  <a:ext uri="{0D108BD9-81ED-4DB2-BD59-A6C34878D82A}">
                    <a16:rowId xmlns:a16="http://schemas.microsoft.com/office/drawing/2014/main" val="2267613490"/>
                  </a:ext>
                </a:extLst>
              </a:tr>
              <a:tr h="3110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ILLUSTRATE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811" marR="4481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Show how sample data are processed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811" marR="44811" marT="0" marB="0"/>
                </a:tc>
                <a:extLst>
                  <a:ext uri="{0D108BD9-81ED-4DB2-BD59-A6C34878D82A}">
                    <a16:rowId xmlns:a16="http://schemas.microsoft.com/office/drawing/2014/main" val="231894317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180A653-3732-477B-B0E7-71A6FFE6D420}"/>
              </a:ext>
            </a:extLst>
          </p:cNvPr>
          <p:cNvSpPr txBox="1"/>
          <p:nvPr/>
        </p:nvSpPr>
        <p:spPr>
          <a:xfrm>
            <a:off x="4415009" y="125441"/>
            <a:ext cx="33619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1" dirty="0">
                <a:solidFill>
                  <a:schemeClr val="accent1"/>
                </a:solidFill>
              </a:rPr>
              <a:t>Table 5-2: Summary of Pig Latin Operators</a:t>
            </a:r>
          </a:p>
        </p:txBody>
      </p:sp>
    </p:spTree>
    <p:extLst>
      <p:ext uri="{BB962C8B-B14F-4D97-AF65-F5344CB8AC3E}">
        <p14:creationId xmlns:p14="http://schemas.microsoft.com/office/powerpoint/2010/main" val="39975870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E13B1-3AE7-4B23-BA50-25E9D7195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Tutorial A: Website Visitors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673946-5E1C-4C64-9D93-F1F09F509A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11017624" cy="4366628"/>
          </a:xfrm>
        </p:spPr>
        <p:txBody>
          <a:bodyPr>
            <a:normAutofit/>
          </a:bodyPr>
          <a:lstStyle/>
          <a:p>
            <a:r>
              <a:rPr lang="en-US" dirty="0"/>
              <a:t>Pig Latin commands are used:</a:t>
            </a:r>
          </a:p>
          <a:p>
            <a:pPr lvl="1"/>
            <a:r>
              <a:rPr lang="en-US" dirty="0"/>
              <a:t>To rank each visitor based on average rank of the web page they have visited</a:t>
            </a:r>
          </a:p>
          <a:p>
            <a:pPr lvl="1"/>
            <a:r>
              <a:rPr lang="en-US" dirty="0"/>
              <a:t>To display a list of visitors who have visited pages with an average ranking &gt;=75</a:t>
            </a:r>
          </a:p>
          <a:p>
            <a:r>
              <a:rPr lang="en-US" dirty="0"/>
              <a:t>Uses two CSV data files:</a:t>
            </a:r>
          </a:p>
          <a:p>
            <a:pPr lvl="1"/>
            <a:r>
              <a:rPr lang="en-US" dirty="0"/>
              <a:t>VisitorLog:</a:t>
            </a:r>
          </a:p>
          <a:p>
            <a:pPr lvl="2"/>
            <a:r>
              <a:rPr lang="en-US" dirty="0"/>
              <a:t>Contains information about web page visitors</a:t>
            </a:r>
          </a:p>
          <a:p>
            <a:pPr lvl="1"/>
            <a:r>
              <a:rPr lang="en-US" dirty="0"/>
              <a:t>PageRank:</a:t>
            </a:r>
          </a:p>
          <a:p>
            <a:pPr lvl="2"/>
            <a:r>
              <a:rPr lang="en-US" dirty="0"/>
              <a:t>Contains a list of the visited web pages and their overall ranking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1B7E13-311C-49BB-A749-D3BF1A6E5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216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433DBB-8EEE-4968-9ACC-EAA33D96F0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93681" y="1093603"/>
            <a:ext cx="4490543" cy="3862301"/>
          </a:xfrm>
        </p:spPr>
        <p:txBody>
          <a:bodyPr/>
          <a:lstStyle/>
          <a:p>
            <a:r>
              <a:rPr lang="en-US" dirty="0"/>
              <a:t>For example:</a:t>
            </a:r>
          </a:p>
          <a:p>
            <a:pPr lvl="1"/>
            <a:r>
              <a:rPr lang="en-US" dirty="0"/>
              <a:t>Aubrie has spent 5 minutes on Google:</a:t>
            </a:r>
          </a:p>
          <a:p>
            <a:pPr lvl="2"/>
            <a:r>
              <a:rPr lang="en-US" dirty="0"/>
              <a:t>With a web page rank of 85</a:t>
            </a:r>
          </a:p>
          <a:p>
            <a:pPr lvl="1"/>
            <a:r>
              <a:rPr lang="en-US" dirty="0"/>
              <a:t>and 10 minutes on Reddit:</a:t>
            </a:r>
          </a:p>
          <a:p>
            <a:pPr lvl="2"/>
            <a:r>
              <a:rPr lang="en-US" dirty="0"/>
              <a:t>With a web page rank of 22</a:t>
            </a:r>
          </a:p>
          <a:p>
            <a:pPr lvl="1"/>
            <a:r>
              <a:rPr lang="en-US" dirty="0"/>
              <a:t>The overall ranking for Aubrie is calculated as:</a:t>
            </a:r>
          </a:p>
          <a:p>
            <a:pPr lvl="2"/>
            <a:r>
              <a:rPr lang="en-US" b="1" dirty="0"/>
              <a:t>(85 + 22)/2 = 53.5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93F963-ACE7-45A8-AA84-B84C63B2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C9866BFD-2D71-2643-B920-B8870CC7879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2" y="724447"/>
            <a:ext cx="4209415" cy="423145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A3349A-D5F5-E149-96F7-DD41BC9D6E2F}"/>
              </a:ext>
            </a:extLst>
          </p:cNvPr>
          <p:cNvSpPr txBox="1"/>
          <p:nvPr/>
        </p:nvSpPr>
        <p:spPr>
          <a:xfrm>
            <a:off x="0" y="513716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1" dirty="0">
                <a:solidFill>
                  <a:schemeClr val="accent1"/>
                </a:solidFill>
              </a:rPr>
              <a:t>Figure 5-2: Hypothetical Data About Visitors and Web Pages</a:t>
            </a:r>
          </a:p>
        </p:txBody>
      </p:sp>
    </p:spTree>
    <p:extLst>
      <p:ext uri="{BB962C8B-B14F-4D97-AF65-F5344CB8AC3E}">
        <p14:creationId xmlns:p14="http://schemas.microsoft.com/office/powerpoint/2010/main" val="9835814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9C57A-CDC1-4BA9-A761-CBE8BEE2B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Tutorial A: Creating Directories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D8A1DA-6D8B-446C-B3F1-D142164043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en-US" dirty="0"/>
              <a:t>Create directories where the files will be placed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Put the input files in HDFS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Invoke grunt shell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F19DE3-D20B-4B8E-A07C-D9ECE1B83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00D24190-1458-42DD-9301-D764E13B5D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6765" y="1825625"/>
            <a:ext cx="3839480" cy="923330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$ hadoop fs -mkdir PG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$ hadoop fs -mkdir PG/TutorialA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$ hadoop fs -mkdir PG/TutorialA/input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94569F4E-9598-435A-B0E7-74D6741727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7057" y="4095479"/>
            <a:ext cx="7117882" cy="636816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$ hadoop fs -copyFromLocal VisitorLog PG/TutorialA/input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$ hadoop fs -copyFromLocal PageRank PG/TutorialA/input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8DDA6BD6-9007-4105-B852-DE960023B8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7057" y="5801820"/>
            <a:ext cx="1133157" cy="442779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$ pig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75116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5B901-65B0-470F-BC43-4E7BA63C4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Tutorial A: Load Files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33B5EE-3797-4B5C-8316-F51B661E5C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5275" y="1782465"/>
            <a:ext cx="6416914" cy="4351338"/>
          </a:xfrm>
        </p:spPr>
        <p:txBody>
          <a:bodyPr/>
          <a:lstStyle/>
          <a:p>
            <a:r>
              <a:rPr lang="en-US" dirty="0"/>
              <a:t>The file </a:t>
            </a:r>
            <a:r>
              <a:rPr lang="en-US" i="1" dirty="0"/>
              <a:t>visitors</a:t>
            </a:r>
            <a:r>
              <a:rPr lang="en-US" dirty="0"/>
              <a:t> has three fields: </a:t>
            </a:r>
          </a:p>
          <a:p>
            <a:pPr lvl="1"/>
            <a:r>
              <a:rPr lang="en-US" dirty="0"/>
              <a:t>name (chararray), site (chararray), time (int)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Show the results of the file: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FC6D87-A39B-4493-82B8-9D5486EF7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86E1031F-E7B1-49C2-8171-846665CAA1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243" y="2847904"/>
            <a:ext cx="7575855" cy="646331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grunt&gt; visitors = LOAD 'PG/TutorialA/input/VisitorLog' USING PigStorage(',') AS(name:chararray,site:chararray, time:int);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2839561E-8426-4E42-A231-90EFB00975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5143" y="5000946"/>
            <a:ext cx="2590800" cy="369332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grunt&gt; DUMP visitors;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9280A70F-C6C4-4BC5-AE9B-0646C0FAD1E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4712" y="2418459"/>
            <a:ext cx="2729088" cy="323454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43A3036-FE56-4A76-9C68-E5A3C7977067}"/>
              </a:ext>
            </a:extLst>
          </p:cNvPr>
          <p:cNvSpPr txBox="1"/>
          <p:nvPr/>
        </p:nvSpPr>
        <p:spPr>
          <a:xfrm>
            <a:off x="7671898" y="6021630"/>
            <a:ext cx="4403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600"/>
              </a:spcAft>
            </a:pPr>
            <a:r>
              <a:rPr lang="en-US" sz="1400" b="1" i="1" dirty="0">
                <a:solidFill>
                  <a:schemeClr val="accent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Figure 5‑3: Bag of </a:t>
            </a:r>
            <a:r>
              <a:rPr lang="en-US" sz="1400" b="1" dirty="0">
                <a:solidFill>
                  <a:schemeClr val="accent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visitors</a:t>
            </a:r>
            <a:r>
              <a:rPr lang="en-US" sz="1400" b="1" i="1" dirty="0">
                <a:solidFill>
                  <a:schemeClr val="accent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Records</a:t>
            </a:r>
          </a:p>
        </p:txBody>
      </p:sp>
    </p:spTree>
    <p:extLst>
      <p:ext uri="{BB962C8B-B14F-4D97-AF65-F5344CB8AC3E}">
        <p14:creationId xmlns:p14="http://schemas.microsoft.com/office/powerpoint/2010/main" val="2651986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D5BDE-344A-4AEE-93BF-7BF43A679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Tutorial A: Load Files (cont.)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59DE20-8F90-4CFA-BC00-0FA7E0805B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3024" y="1761122"/>
            <a:ext cx="5212976" cy="4486275"/>
          </a:xfrm>
        </p:spPr>
        <p:txBody>
          <a:bodyPr>
            <a:normAutofit/>
          </a:bodyPr>
          <a:lstStyle/>
          <a:p>
            <a:r>
              <a:rPr lang="en-US" dirty="0"/>
              <a:t>The file </a:t>
            </a:r>
            <a:r>
              <a:rPr lang="en-US" i="1" dirty="0"/>
              <a:t>webpages</a:t>
            </a:r>
            <a:r>
              <a:rPr lang="en-US" dirty="0"/>
              <a:t> has two fields:</a:t>
            </a:r>
          </a:p>
          <a:p>
            <a:pPr lvl="1"/>
            <a:r>
              <a:rPr lang="en-US" dirty="0"/>
              <a:t>site (chararray), rating (double)</a:t>
            </a:r>
          </a:p>
          <a:p>
            <a:endParaRPr lang="en-US" dirty="0"/>
          </a:p>
          <a:p>
            <a:r>
              <a:rPr lang="en-US" dirty="0"/>
              <a:t>Show results: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C50F30-C533-4F67-A49B-8705DDC2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350D71D1-FDE5-458B-9B62-2FD22C854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849079"/>
            <a:ext cx="10674848" cy="369332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grunt&gt; webpages = LOAD 'PG/TutorialA/input/PageRank' USING PigStorage(‘,’) AS(site:chararray,rating:double);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7CDFA81D-43C2-443C-8A79-B36E64E1DB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7999" y="3429000"/>
            <a:ext cx="2613660" cy="369332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grunt&gt; DUMP webpages;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picture containing table&#10;&#10;Description automatically generated">
            <a:extLst>
              <a:ext uri="{FF2B5EF4-FFF2-40B4-BE49-F238E27FC236}">
                <a16:creationId xmlns:a16="http://schemas.microsoft.com/office/drawing/2014/main" id="{E26A068A-C24A-48F4-B4EE-614FA691CBB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2455" y="4337922"/>
            <a:ext cx="1693545" cy="130746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B8956A2-324E-49E2-948B-BD07AE9BB5E2}"/>
              </a:ext>
            </a:extLst>
          </p:cNvPr>
          <p:cNvSpPr txBox="1"/>
          <p:nvPr/>
        </p:nvSpPr>
        <p:spPr>
          <a:xfrm>
            <a:off x="3620953" y="5742013"/>
            <a:ext cx="32565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600"/>
              </a:spcAft>
            </a:pPr>
            <a:r>
              <a:rPr lang="en-US" sz="1400" b="1" i="1" dirty="0">
                <a:solidFill>
                  <a:schemeClr val="accent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Figure 5‑4: Bag of </a:t>
            </a:r>
            <a:r>
              <a:rPr lang="en-US" sz="1400" b="1" dirty="0">
                <a:solidFill>
                  <a:schemeClr val="accent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webpages</a:t>
            </a:r>
            <a:r>
              <a:rPr lang="en-US" sz="1400" b="1" i="1" dirty="0">
                <a:solidFill>
                  <a:schemeClr val="accent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Records</a:t>
            </a:r>
          </a:p>
        </p:txBody>
      </p:sp>
    </p:spTree>
    <p:extLst>
      <p:ext uri="{BB962C8B-B14F-4D97-AF65-F5344CB8AC3E}">
        <p14:creationId xmlns:p14="http://schemas.microsoft.com/office/powerpoint/2010/main" val="5284897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967F3-3494-404A-AF4E-2C5BE2A76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Tutorial A: Storage Functions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B5CBD6-0628-4C12-B4BE-779D6511B1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825625"/>
            <a:ext cx="10515599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PigStorage: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Load the relations using a field-delimited text format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The default delimiter is "tab"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/>
              <a:t>Other delimiters specified in the command line by using PigStorage(' ')</a:t>
            </a:r>
          </a:p>
          <a:p>
            <a:r>
              <a:rPr lang="en-US" dirty="0"/>
              <a:t>HBaseStorage:</a:t>
            </a:r>
          </a:p>
          <a:p>
            <a:pPr lvl="1"/>
            <a:r>
              <a:rPr lang="en-US" dirty="0"/>
              <a:t>Used when loading data from HBase</a:t>
            </a:r>
          </a:p>
          <a:p>
            <a:r>
              <a:rPr lang="en-US" dirty="0"/>
              <a:t>BinStorage:</a:t>
            </a:r>
          </a:p>
          <a:p>
            <a:pPr lvl="1"/>
            <a:r>
              <a:rPr lang="en-US" dirty="0"/>
              <a:t>Used when loading data from binary files</a:t>
            </a:r>
          </a:p>
          <a:p>
            <a:r>
              <a:rPr lang="en-US" dirty="0"/>
              <a:t>BinaryStorage:</a:t>
            </a:r>
          </a:p>
          <a:p>
            <a:pPr lvl="1"/>
            <a:r>
              <a:rPr lang="en-US" dirty="0"/>
              <a:t>Used when files contain bytearray data types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CB37FF-45CC-41B7-A916-1135C9151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7422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5FB2A-C9BB-49DC-BDC0-7A27E7217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Tutorial A: Join Bags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9EFCA9-B606-4C17-BE99-47C6291AE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825625"/>
            <a:ext cx="8161421" cy="4351338"/>
          </a:xfrm>
        </p:spPr>
        <p:txBody>
          <a:bodyPr/>
          <a:lstStyle/>
          <a:p>
            <a:r>
              <a:rPr lang="en-US" dirty="0"/>
              <a:t>By respective fields:</a:t>
            </a:r>
          </a:p>
          <a:p>
            <a:pPr lvl="1"/>
            <a:r>
              <a:rPr lang="en-US" dirty="0"/>
              <a:t>Do not have to be named the same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916A31-AFE3-48FF-8412-F37638F22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AE7CDDB9-A1B1-4137-AE7E-53CB31DC52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199" y="2875366"/>
            <a:ext cx="6373528" cy="646331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grunt&gt; </a:t>
            </a:r>
            <a:r>
              <a:rPr lang="en-US" i="1" dirty="0">
                <a:solidFill>
                  <a:schemeClr val="tx1"/>
                </a:solidFill>
                <a:effectLst/>
                <a:ea typeface="MS Gothic" panose="020B0609070205080204" pitchFamily="49" charset="-128"/>
                <a:cs typeface="Times New Roman" panose="02020603050405020304" pitchFamily="18" charset="0"/>
              </a:rPr>
              <a:t>visitors_webpages = JOIN visitors BY site, webpages BY site;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MS Gothic" panose="020B0609070205080204" pitchFamily="49" charset="-128"/>
                <a:cs typeface="Times New Roman" panose="02020603050405020304" pitchFamily="18" charset="0"/>
              </a:rPr>
              <a:t>grunt&gt; DUMP visitors_we</a:t>
            </a:r>
            <a:r>
              <a:rPr lang="en-US" i="1" dirty="0">
                <a:solidFill>
                  <a:schemeClr val="tx1"/>
                </a:solidFill>
                <a:ea typeface="MS Gothic" panose="020B0609070205080204" pitchFamily="49" charset="-128"/>
                <a:cs typeface="Times New Roman" panose="02020603050405020304" pitchFamily="18" charset="0"/>
              </a:rPr>
              <a:t>bpages;</a:t>
            </a:r>
            <a:endParaRPr lang="en-U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close up of a person&#10;&#10;Description automatically generated">
            <a:extLst>
              <a:ext uri="{FF2B5EF4-FFF2-40B4-BE49-F238E27FC236}">
                <a16:creationId xmlns:a16="http://schemas.microsoft.com/office/drawing/2014/main" id="{C7CA94BB-2E91-4E16-A7F3-DEF6675160A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0410" y="1825625"/>
            <a:ext cx="2778643" cy="229019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66C4159-3291-43FD-91EC-454A11CABD76}"/>
              </a:ext>
            </a:extLst>
          </p:cNvPr>
          <p:cNvSpPr txBox="1"/>
          <p:nvPr/>
        </p:nvSpPr>
        <p:spPr>
          <a:xfrm>
            <a:off x="7754678" y="4250754"/>
            <a:ext cx="3850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1" dirty="0">
                <a:solidFill>
                  <a:schemeClr val="accent1"/>
                </a:solidFill>
              </a:rPr>
              <a:t>Figure 5-5: The Result of the </a:t>
            </a:r>
            <a:r>
              <a:rPr lang="en-US" sz="1400" b="1" dirty="0">
                <a:solidFill>
                  <a:schemeClr val="accent1"/>
                </a:solidFill>
              </a:rPr>
              <a:t>join</a:t>
            </a:r>
            <a:r>
              <a:rPr lang="en-US" sz="1400" b="1" i="1" dirty="0">
                <a:solidFill>
                  <a:schemeClr val="accent1"/>
                </a:solidFill>
              </a:rPr>
              <a:t> Operation</a:t>
            </a:r>
          </a:p>
        </p:txBody>
      </p:sp>
    </p:spTree>
    <p:extLst>
      <p:ext uri="{BB962C8B-B14F-4D97-AF65-F5344CB8AC3E}">
        <p14:creationId xmlns:p14="http://schemas.microsoft.com/office/powerpoint/2010/main" val="15327705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1D8E8-C548-4DBF-84C5-83D12B45E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Tutorial A: Group Records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CB27B6-EE2F-4E15-BD44-9600B5305E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en-US" dirty="0"/>
              <a:t>Grouped by specific fields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Visitor Aubrie is shown in two tuples (6 and 10) in the relation visitor_webpage </a:t>
            </a:r>
          </a:p>
          <a:p>
            <a:r>
              <a:rPr lang="en-US" dirty="0"/>
              <a:t>Aubrie is grouped as one bag (4) in the relation group_by_visitor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842826-2EC6-4A68-8559-9EFAE9053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3FEDCB74-1508-4866-8A66-D1D92682F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4367" y="1834755"/>
            <a:ext cx="6181023" cy="646331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grunt&gt; </a:t>
            </a:r>
            <a:r>
              <a:rPr lang="en-US" i="1" dirty="0">
                <a:solidFill>
                  <a:schemeClr val="tx1"/>
                </a:solidFill>
                <a:effectLst/>
                <a:ea typeface="MS Gothic" panose="020B0609070205080204" pitchFamily="49" charset="-128"/>
                <a:cs typeface="Times New Roman" panose="02020603050405020304" pitchFamily="18" charset="0"/>
              </a:rPr>
              <a:t>group_by_visitor = GROUP visitors_webpages BY name;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MS Gothic" panose="020B0609070205080204" pitchFamily="49" charset="-128"/>
                <a:cs typeface="Times New Roman" panose="02020603050405020304" pitchFamily="18" charset="0"/>
              </a:rPr>
              <a:t>grunt&gt; DUMP g</a:t>
            </a:r>
            <a:r>
              <a:rPr lang="en-US" i="1" dirty="0">
                <a:solidFill>
                  <a:schemeClr val="tx1"/>
                </a:solidFill>
                <a:ea typeface="MS Gothic" panose="020B0609070205080204" pitchFamily="49" charset="-128"/>
                <a:cs typeface="Times New Roman" panose="02020603050405020304" pitchFamily="18" charset="0"/>
              </a:rPr>
              <a:t>roup_by_visitor;</a:t>
            </a:r>
            <a:endParaRPr lang="en-U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picture containing bird&#10;&#10;Description automatically generated">
            <a:extLst>
              <a:ext uri="{FF2B5EF4-FFF2-40B4-BE49-F238E27FC236}">
                <a16:creationId xmlns:a16="http://schemas.microsoft.com/office/drawing/2014/main" id="{26AB3650-F1FE-49F1-9F96-2BDF91B4316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4036" y="4521362"/>
            <a:ext cx="6923924" cy="119095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7AA89DA-7421-49FF-98A2-1410757A116E}"/>
              </a:ext>
            </a:extLst>
          </p:cNvPr>
          <p:cNvSpPr txBox="1"/>
          <p:nvPr/>
        </p:nvSpPr>
        <p:spPr>
          <a:xfrm>
            <a:off x="3826040" y="5846135"/>
            <a:ext cx="45399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1" dirty="0">
                <a:solidFill>
                  <a:schemeClr val="accent1"/>
                </a:solidFill>
              </a:rPr>
              <a:t>Figure 5-6: The Results of the </a:t>
            </a:r>
            <a:r>
              <a:rPr lang="en-US" sz="1400" b="1" dirty="0">
                <a:solidFill>
                  <a:schemeClr val="accent1"/>
                </a:solidFill>
              </a:rPr>
              <a:t>dump group_by</a:t>
            </a:r>
            <a:r>
              <a:rPr lang="en-US" sz="1400" b="1" i="1" dirty="0">
                <a:solidFill>
                  <a:schemeClr val="accent1"/>
                </a:solidFill>
              </a:rPr>
              <a:t> Command</a:t>
            </a:r>
          </a:p>
        </p:txBody>
      </p:sp>
    </p:spTree>
    <p:extLst>
      <p:ext uri="{BB962C8B-B14F-4D97-AF65-F5344CB8AC3E}">
        <p14:creationId xmlns:p14="http://schemas.microsoft.com/office/powerpoint/2010/main" val="9723536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F49CF-41BB-4024-9D85-75EC71DCF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Tutorial A: Calculate Average Rank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AA6A89-8D36-47AD-93CA-9351F7994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3F67A883-865A-4AFC-B15E-A0FAA2AC62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175" y="1933124"/>
            <a:ext cx="10747625" cy="830997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grunt&gt; </a:t>
            </a:r>
            <a:r>
              <a:rPr lang="en-US" sz="1600" i="1" dirty="0">
                <a:solidFill>
                  <a:schemeClr val="tx1"/>
                </a:solidFill>
                <a:effectLst/>
                <a:ea typeface="MS Gothic" panose="020B0609070205080204" pitchFamily="49" charset="-128"/>
                <a:cs typeface="Times New Roman" panose="02020603050405020304" pitchFamily="18" charset="0"/>
              </a:rPr>
              <a:t>avg_rank = FOREACH group_by_visitor GENERATE visitors_webpages, AVG(visitors_webpages.rating) AS AR;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600" i="1" dirty="0">
              <a:solidFill>
                <a:schemeClr val="tx1"/>
              </a:solidFill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i="1" dirty="0">
                <a:solidFill>
                  <a:schemeClr val="tx1"/>
                </a:solidFill>
                <a:ea typeface="MS Gothic" panose="020B0609070205080204" pitchFamily="49" charset="-128"/>
                <a:cs typeface="Times New Roman" panose="02020603050405020304" pitchFamily="18" charset="0"/>
              </a:rPr>
              <a:t>grunt&gt; DUMP avg_rank;</a:t>
            </a:r>
            <a:endParaRPr lang="en-US" sz="1600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picture containing bird&#10;&#10;Description automatically generated">
            <a:extLst>
              <a:ext uri="{FF2B5EF4-FFF2-40B4-BE49-F238E27FC236}">
                <a16:creationId xmlns:a16="http://schemas.microsoft.com/office/drawing/2014/main" id="{5C29A560-A14D-420A-93A8-F30C868FD50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277686"/>
            <a:ext cx="7615990" cy="132556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AF289C2-E8CA-41AA-A341-6B241A860B1D}"/>
              </a:ext>
            </a:extLst>
          </p:cNvPr>
          <p:cNvSpPr txBox="1"/>
          <p:nvPr/>
        </p:nvSpPr>
        <p:spPr>
          <a:xfrm>
            <a:off x="1598195" y="4818330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1" dirty="0">
                <a:solidFill>
                  <a:schemeClr val="accent1"/>
                </a:solidFill>
              </a:rPr>
              <a:t>Figure 5-7: List of Visitors, Web Page Activity, and the Overall Rank</a:t>
            </a:r>
          </a:p>
        </p:txBody>
      </p:sp>
    </p:spTree>
    <p:extLst>
      <p:ext uri="{BB962C8B-B14F-4D97-AF65-F5344CB8AC3E}">
        <p14:creationId xmlns:p14="http://schemas.microsoft.com/office/powerpoint/2010/main" val="7911232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0ED3D-627A-46F5-9AA9-44B3AE3D3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Tutorial A: Filter Records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DE75B5-C2FC-441B-B74D-B327D0AAB5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Filter visitors with average rank &gt; 75.0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F1F938-DCFD-4C0A-9831-B0026BF11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14B0537A-ECDE-4631-91C2-C27B5E57F7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523457"/>
            <a:ext cx="6538645" cy="646331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grunt&gt; </a:t>
            </a:r>
            <a:r>
              <a:rPr lang="en-US" i="1" dirty="0">
                <a:solidFill>
                  <a:schemeClr val="tx1"/>
                </a:solidFill>
                <a:effectLst/>
                <a:ea typeface="MS Gothic" panose="020B0609070205080204" pitchFamily="49" charset="-128"/>
                <a:cs typeface="Times New Roman" panose="02020603050405020304" pitchFamily="18" charset="0"/>
              </a:rPr>
              <a:t>TopRank = FILTER avg_rank BY AR&gt;75.0;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MS Gothic" panose="020B0609070205080204" pitchFamily="49" charset="-128"/>
                <a:cs typeface="Times New Roman" panose="02020603050405020304" pitchFamily="18" charset="0"/>
              </a:rPr>
              <a:t>grunt&gt; DUMP TopRank;</a:t>
            </a:r>
            <a:endParaRPr lang="en-U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3489CDA6-0968-4C9F-96B7-1E95880DADD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867620"/>
            <a:ext cx="7593230" cy="55489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939C2CA-757A-45A8-9349-A0965561E916}"/>
              </a:ext>
            </a:extLst>
          </p:cNvPr>
          <p:cNvSpPr txBox="1"/>
          <p:nvPr/>
        </p:nvSpPr>
        <p:spPr>
          <a:xfrm>
            <a:off x="1586815" y="4557448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1" dirty="0">
                <a:solidFill>
                  <a:schemeClr val="accent1"/>
                </a:solidFill>
              </a:rPr>
              <a:t>Figure 5-8: List of Visitors with an Overall Ranking Above 75</a:t>
            </a:r>
          </a:p>
        </p:txBody>
      </p:sp>
    </p:spTree>
    <p:extLst>
      <p:ext uri="{BB962C8B-B14F-4D97-AF65-F5344CB8AC3E}">
        <p14:creationId xmlns:p14="http://schemas.microsoft.com/office/powerpoint/2010/main" val="20927250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55471-52AA-498C-B2FC-1D5A58E38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Tutorial A: Store Results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6E37B8-533B-44E2-AF0C-0F3C80AD62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Store the final results: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Exit from grunt&gt;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List content of stored results in HDFS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B61827-2681-41EA-887E-E84EAB5DD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F38BD5FD-3A19-42F5-AAE8-38B25FE15D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411538"/>
            <a:ext cx="7245216" cy="369332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grunt&gt; </a:t>
            </a:r>
            <a:r>
              <a:rPr lang="en-US" i="1" dirty="0">
                <a:solidFill>
                  <a:schemeClr val="tx1"/>
                </a:solidFill>
                <a:effectLst/>
                <a:ea typeface="MS Gothic" panose="020B0609070205080204" pitchFamily="49" charset="-128"/>
                <a:cs typeface="Times New Roman" panose="02020603050405020304" pitchFamily="18" charset="0"/>
              </a:rPr>
              <a:t>STORE TopRank INTO 'PG/TutorialA/output' USING PigStorage(',');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647A6032-293D-4D24-95F5-B6BC016BF1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456050"/>
            <a:ext cx="1656147" cy="369332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grunt&gt; </a:t>
            </a:r>
            <a:r>
              <a:rPr lang="en-US" i="1" dirty="0">
                <a:solidFill>
                  <a:schemeClr val="tx1"/>
                </a:solidFill>
                <a:effectLst/>
                <a:ea typeface="MS Gothic" panose="020B0609070205080204" pitchFamily="49" charset="-128"/>
                <a:cs typeface="Times New Roman" panose="02020603050405020304" pitchFamily="18" charset="0"/>
              </a:rPr>
              <a:t>quit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C6C89DCD-BE2C-4734-8584-5318ABCC30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087" y="4109584"/>
            <a:ext cx="4158208" cy="646331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$ hadoop fs -ls PG/TutorialA/output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$ hadoop fs –cat PG/TutorialA/output/p*</a:t>
            </a:r>
            <a:endParaRPr lang="en-U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picture containing orange, clock&#10;&#10;Description automatically generated">
            <a:extLst>
              <a:ext uri="{FF2B5EF4-FFF2-40B4-BE49-F238E27FC236}">
                <a16:creationId xmlns:a16="http://schemas.microsoft.com/office/drawing/2014/main" id="{4EDB03B3-8758-458B-BBE9-B71189964E7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450" y="5314616"/>
            <a:ext cx="5289550" cy="431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17ACF282-6046-4069-88C8-0FA4ADEDB01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04" y="5329856"/>
            <a:ext cx="5549265" cy="41656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25CC210-439A-4822-BB56-46744D7E44E1}"/>
              </a:ext>
            </a:extLst>
          </p:cNvPr>
          <p:cNvSpPr txBox="1"/>
          <p:nvPr/>
        </p:nvSpPr>
        <p:spPr>
          <a:xfrm>
            <a:off x="1666273" y="5846135"/>
            <a:ext cx="34497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1" dirty="0">
                <a:solidFill>
                  <a:schemeClr val="accent1"/>
                </a:solidFill>
              </a:rPr>
              <a:t>Figure 5-9: Output Directory Files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22ABA0-D121-41AE-B952-DFA5313E0410}"/>
              </a:ext>
            </a:extLst>
          </p:cNvPr>
          <p:cNvSpPr txBox="1"/>
          <p:nvPr/>
        </p:nvSpPr>
        <p:spPr>
          <a:xfrm>
            <a:off x="7122694" y="5807801"/>
            <a:ext cx="42992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1" dirty="0">
                <a:solidFill>
                  <a:schemeClr val="accent1"/>
                </a:solidFill>
              </a:rPr>
              <a:t>Figure 5-10: Results of </a:t>
            </a:r>
            <a:r>
              <a:rPr lang="en-US" sz="1400" b="1" dirty="0">
                <a:solidFill>
                  <a:schemeClr val="accent1"/>
                </a:solidFill>
              </a:rPr>
              <a:t>store</a:t>
            </a:r>
            <a:r>
              <a:rPr lang="en-US" sz="1400" b="1" i="1" dirty="0">
                <a:solidFill>
                  <a:schemeClr val="accent1"/>
                </a:solidFill>
              </a:rPr>
              <a:t> and </a:t>
            </a:r>
            <a:r>
              <a:rPr lang="en-US" sz="1400" b="1" dirty="0">
                <a:solidFill>
                  <a:schemeClr val="accent1"/>
                </a:solidFill>
              </a:rPr>
              <a:t>cat</a:t>
            </a:r>
            <a:r>
              <a:rPr lang="en-US" sz="1400" b="1" i="1" dirty="0">
                <a:solidFill>
                  <a:schemeClr val="accent1"/>
                </a:solidFill>
              </a:rPr>
              <a:t> Commands</a:t>
            </a:r>
          </a:p>
        </p:txBody>
      </p:sp>
    </p:spTree>
    <p:extLst>
      <p:ext uri="{BB962C8B-B14F-4D97-AF65-F5344CB8AC3E}">
        <p14:creationId xmlns:p14="http://schemas.microsoft.com/office/powerpoint/2010/main" val="30657847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66072B-61B1-416D-9D02-1977DDEBA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6" name="Text Box 660089859">
            <a:extLst>
              <a:ext uri="{FF2B5EF4-FFF2-40B4-BE49-F238E27FC236}">
                <a16:creationId xmlns:a16="http://schemas.microsoft.com/office/drawing/2014/main" id="{50E20D59-AC95-4147-841B-271A52331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226" y="573026"/>
            <a:ext cx="10827711" cy="5509200"/>
          </a:xfrm>
          <a:prstGeom prst="rect">
            <a:avLst/>
          </a:prstGeom>
          <a:solidFill>
            <a:srgbClr val="C6D9F1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spAutoFit/>
          </a:bodyPr>
          <a:lstStyle/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6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 hadoop fs -mkdir PG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6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 hadoop fs -mkdir PG/TutorialA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6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 hadoop fs -mkdir PG/TutorialA/input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6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 hadoop fs -copyFromLocal VisitorLog PG/TutorialA/input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6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 hadoop fs -copyFromLocal PageRank PG/TutorialA/input 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6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 pig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6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visitors = LOAD 'PG/TutorialA/input/VisitorLog' USING PigStorage (',') AS(name:chararray,site:chararray, time:int);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6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DUMP visitors;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6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webpages = LOAD 'PG/TutorialA/input/PageRank' USING PigStorage (',') AS(site:chararray, rating:double); 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6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DUMP webpages;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6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visitors_webpages = JOIN visitors BY site, webpages BY site;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6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DUMP visitors_webpages;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6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group_by_visitor = GROUP visitors_webpages BY name;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6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DUMP group_by_visitor;                      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6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avg_rank = FOREACH group_by_visitor GENERATE visitors_webpages, AVG(visitors_webpages.rating) AS AR;                        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6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DUMP avg_rank;                               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6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TopRank = FILTER avg_rank BY AR&gt;75.0;                     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6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DUMP TopRank;                                 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6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STORE TopRank INTO 'PG/TutorialA/output' USING PigStorage(',');              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6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quit                                     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6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 hadoop fs -ls PG/TutorialA/output                              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6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 hadoop fs -cat PG/TutorialA/output/p* 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D3BD8E-FD80-4DB2-99D7-FAEF1DB5A2E0}"/>
              </a:ext>
            </a:extLst>
          </p:cNvPr>
          <p:cNvSpPr txBox="1"/>
          <p:nvPr/>
        </p:nvSpPr>
        <p:spPr>
          <a:xfrm>
            <a:off x="3449053" y="144197"/>
            <a:ext cx="43474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1" dirty="0">
                <a:solidFill>
                  <a:schemeClr val="accent1"/>
                </a:solidFill>
              </a:rPr>
              <a:t>Box 5-1: Summary of Tutorial A</a:t>
            </a:r>
          </a:p>
        </p:txBody>
      </p:sp>
    </p:spTree>
    <p:extLst>
      <p:ext uri="{BB962C8B-B14F-4D97-AF65-F5344CB8AC3E}">
        <p14:creationId xmlns:p14="http://schemas.microsoft.com/office/powerpoint/2010/main" val="40667198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7DD1A-7144-414F-A758-9E08D5BA3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Tutorial B: Fast-Food Employees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6ACCAF-E487-4C56-AE6E-10666F6732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Two tab-separated input files:</a:t>
            </a:r>
          </a:p>
          <a:p>
            <a:pPr lvl="1"/>
            <a:r>
              <a:rPr lang="en-US" dirty="0"/>
              <a:t>EmployeePT:</a:t>
            </a:r>
          </a:p>
          <a:p>
            <a:pPr lvl="2"/>
            <a:r>
              <a:rPr lang="en-US" dirty="0"/>
              <a:t>Contains information about the IDs of the part-time employees</a:t>
            </a:r>
          </a:p>
          <a:p>
            <a:pPr lvl="2"/>
            <a:r>
              <a:rPr lang="en-US" dirty="0"/>
              <a:t>Names, ages, average weekly hours they have worked</a:t>
            </a:r>
          </a:p>
          <a:p>
            <a:pPr lvl="1"/>
            <a:r>
              <a:rPr lang="en-US" dirty="0"/>
              <a:t>EmployeeWeek:</a:t>
            </a:r>
          </a:p>
          <a:p>
            <a:pPr lvl="2"/>
            <a:r>
              <a:rPr lang="en-US" dirty="0"/>
              <a:t>Contains a list of IDs</a:t>
            </a:r>
          </a:p>
          <a:p>
            <a:pPr lvl="2"/>
            <a:r>
              <a:rPr lang="en-US" dirty="0"/>
              <a:t>Names, number of weeks that the employees have been with the company</a:t>
            </a:r>
          </a:p>
          <a:p>
            <a:r>
              <a:rPr lang="en-US" dirty="0"/>
              <a:t>Null values means no values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1DEDF6-EA31-41AD-8741-E9373BFB9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1239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FCF7FC-98D5-4D7C-89FD-50C06975F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6" name="Picture 5" descr="A picture containing clock&#10;&#10;Description automatically generated">
            <a:extLst>
              <a:ext uri="{FF2B5EF4-FFF2-40B4-BE49-F238E27FC236}">
                <a16:creationId xmlns:a16="http://schemas.microsoft.com/office/drawing/2014/main" id="{9FCAC5D2-12EF-4BD2-BFB1-37670CF8995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8186" y="1441348"/>
            <a:ext cx="6315627" cy="269751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722BADD-FEB9-4F12-A426-BB0DAA06DAE9}"/>
              </a:ext>
            </a:extLst>
          </p:cNvPr>
          <p:cNvSpPr txBox="1"/>
          <p:nvPr/>
        </p:nvSpPr>
        <p:spPr>
          <a:xfrm>
            <a:off x="3047999" y="4347229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1" dirty="0">
                <a:solidFill>
                  <a:schemeClr val="accent1"/>
                </a:solidFill>
              </a:rPr>
              <a:t>Figure 5-11: Hypothetical Data About Part-Time Employees</a:t>
            </a:r>
          </a:p>
        </p:txBody>
      </p:sp>
    </p:spTree>
    <p:extLst>
      <p:ext uri="{BB962C8B-B14F-4D97-AF65-F5344CB8AC3E}">
        <p14:creationId xmlns:p14="http://schemas.microsoft.com/office/powerpoint/2010/main" val="1395940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E0814-A1AF-4E92-9F2E-93B18C164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17624" cy="154388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Tutorial B: Create Directories, Move Files in HDFS, Invoke grunt&gt;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E3EAF9-DA4F-4F70-980F-378D22822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3E3D595D-12C2-430E-B37A-5D931E51B3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2618" y="2254197"/>
            <a:ext cx="4786764" cy="646331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$ hadoop fs -mkdir PG/TutorialB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$ hadoop fs -mkdir PG/TutorialB/input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601C6182-D76C-4126-801F-23036843EC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1377" y="3634307"/>
            <a:ext cx="6351270" cy="646331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$ hadoop fs -copyFromLocal EmployeePT PG/TutorialB/input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$ hadoop fs -copyFromLocal EmployeeWeek PG/TutorialB/input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D7E2FCB9-01F5-4D21-8528-76B8E2B98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1270" y="5014417"/>
            <a:ext cx="1089459" cy="369332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$ pig 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2285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4E59D-9642-4156-A91B-1F6D63DFF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Tutorial B: Load Files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51C834-8A1C-4030-86F3-8EBE93956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4B272C9A-1DD8-49BA-BBE1-E479C9A27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1" y="1556136"/>
            <a:ext cx="7056935" cy="919936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grunt&gt; emp = LOAD 'PG/TutorialB/input/EmployeePT' AS(id:int, name:chararray, age:int, hours:float);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grunt&gt; DUMP emp;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6B2FA99-CF38-0744-91AF-6876D46C767C}"/>
              </a:ext>
            </a:extLst>
          </p:cNvPr>
          <p:cNvGrpSpPr/>
          <p:nvPr/>
        </p:nvGrpSpPr>
        <p:grpSpPr>
          <a:xfrm>
            <a:off x="7742736" y="1556136"/>
            <a:ext cx="3048000" cy="2355437"/>
            <a:chOff x="7588623" y="1519747"/>
            <a:chExt cx="3048000" cy="2355437"/>
          </a:xfrm>
        </p:grpSpPr>
        <p:pic>
          <p:nvPicPr>
            <p:cNvPr id="7" name="Picture 6" descr="A close up of a sign&#10;&#10;Description automatically generated">
              <a:extLst>
                <a:ext uri="{FF2B5EF4-FFF2-40B4-BE49-F238E27FC236}">
                  <a16:creationId xmlns:a16="http://schemas.microsoft.com/office/drawing/2014/main" id="{EF9B63B7-BCC4-4A41-826E-874C0E2B81A1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68082" y="1519747"/>
              <a:ext cx="2089083" cy="1995622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A33942E-9DE2-4F5B-A6B0-B0BEC1176BA9}"/>
                </a:ext>
              </a:extLst>
            </p:cNvPr>
            <p:cNvSpPr txBox="1"/>
            <p:nvPr/>
          </p:nvSpPr>
          <p:spPr>
            <a:xfrm>
              <a:off x="7588623" y="3570202"/>
              <a:ext cx="3048000" cy="3049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1400" b="1" i="1" dirty="0">
                  <a:solidFill>
                    <a:schemeClr val="accent1"/>
                  </a:solidFill>
                </a:rPr>
                <a:t>Figure 5-12: </a:t>
              </a:r>
              <a:r>
                <a:rPr lang="fr-FR" sz="1400" b="1" dirty="0">
                  <a:solidFill>
                    <a:schemeClr val="accent1"/>
                  </a:solidFill>
                </a:rPr>
                <a:t>emp</a:t>
              </a:r>
              <a:r>
                <a:rPr lang="fr-FR" sz="1400" b="1" i="1" dirty="0">
                  <a:solidFill>
                    <a:schemeClr val="accent1"/>
                  </a:solidFill>
                </a:rPr>
                <a:t> Relation</a:t>
              </a:r>
              <a:endParaRPr lang="en-US" sz="1400" b="1" i="1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2" name="Text Box 2">
            <a:extLst>
              <a:ext uri="{FF2B5EF4-FFF2-40B4-BE49-F238E27FC236}">
                <a16:creationId xmlns:a16="http://schemas.microsoft.com/office/drawing/2014/main" id="{026AC8E0-E188-44F0-8DEB-672FFF7B52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1" y="3207115"/>
            <a:ext cx="7056935" cy="919936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grunt&gt; empweek = LOAD 'PG/TutorialB/input/EmployeeWeek' AS(id:int, name:chararray, week:int);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grunt&gt; DUMP empweek;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FFCFB0-1E8A-DF46-A214-6C6AEAD95C44}"/>
              </a:ext>
            </a:extLst>
          </p:cNvPr>
          <p:cNvGrpSpPr/>
          <p:nvPr/>
        </p:nvGrpSpPr>
        <p:grpSpPr>
          <a:xfrm>
            <a:off x="7088694" y="4354497"/>
            <a:ext cx="3272589" cy="1790447"/>
            <a:chOff x="7088694" y="4354497"/>
            <a:chExt cx="3272589" cy="1790447"/>
          </a:xfrm>
        </p:grpSpPr>
        <p:pic>
          <p:nvPicPr>
            <p:cNvPr id="13" name="Picture 12" descr="A close up of a sign&#10;&#10;Description automatically generated">
              <a:extLst>
                <a:ext uri="{FF2B5EF4-FFF2-40B4-BE49-F238E27FC236}">
                  <a16:creationId xmlns:a16="http://schemas.microsoft.com/office/drawing/2014/main" id="{2ADD51E4-64A3-4F2B-870F-DE6E2EBFD7EE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68082" y="4354497"/>
              <a:ext cx="1313815" cy="1411605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EA53302-DCFA-475F-AB6B-2D5D66A11E8B}"/>
                </a:ext>
              </a:extLst>
            </p:cNvPr>
            <p:cNvSpPr txBox="1"/>
            <p:nvPr/>
          </p:nvSpPr>
          <p:spPr>
            <a:xfrm>
              <a:off x="7088694" y="5826205"/>
              <a:ext cx="3272589" cy="3187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/>
                  </a:solidFill>
                </a:rPr>
                <a:t>Figure 5-13: </a:t>
              </a:r>
              <a:r>
                <a:rPr lang="en-US" sz="1400" b="1" dirty="0">
                  <a:solidFill>
                    <a:schemeClr val="accent1"/>
                  </a:solidFill>
                </a:rPr>
                <a:t>empweek</a:t>
              </a:r>
              <a:r>
                <a:rPr lang="en-US" sz="1400" b="1" i="1" dirty="0">
                  <a:solidFill>
                    <a:schemeClr val="accent1"/>
                  </a:solidFill>
                </a:rPr>
                <a:t> Relation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14150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6D7F5-6917-4A80-8015-FC5416A95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Tutorial B: Diagnostic Operators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E476CD-C684-441C-96C6-A3A0743D93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774" y="1496852"/>
            <a:ext cx="10442331" cy="4351338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Describe:</a:t>
            </a:r>
          </a:p>
          <a:p>
            <a:pPr lvl="1"/>
            <a:r>
              <a:rPr lang="en-US" sz="2000" dirty="0"/>
              <a:t>Prints a relation's schema (field names and data types)</a:t>
            </a:r>
          </a:p>
          <a:p>
            <a:pPr lvl="1"/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sz="2400" dirty="0"/>
              <a:t>Explain prints:</a:t>
            </a:r>
          </a:p>
          <a:p>
            <a:pPr lvl="1"/>
            <a:r>
              <a:rPr lang="en-US" sz="2000" dirty="0"/>
              <a:t>Logical plan:</a:t>
            </a:r>
          </a:p>
          <a:p>
            <a:pPr lvl="2"/>
            <a:r>
              <a:rPr lang="en-US" sz="1800" dirty="0"/>
              <a:t>Pipeline of operators to be executed to build the relation</a:t>
            </a:r>
          </a:p>
          <a:p>
            <a:pPr lvl="1"/>
            <a:r>
              <a:rPr lang="en-US" sz="2000" dirty="0"/>
              <a:t>Physical plan:</a:t>
            </a:r>
          </a:p>
          <a:p>
            <a:pPr lvl="2"/>
            <a:r>
              <a:rPr lang="en-US" sz="1800" dirty="0"/>
              <a:t>How the data are processed</a:t>
            </a:r>
          </a:p>
          <a:p>
            <a:pPr lvl="1"/>
            <a:r>
              <a:rPr lang="en-US" sz="2000" dirty="0"/>
              <a:t>MapReduce plan:</a:t>
            </a:r>
          </a:p>
          <a:p>
            <a:pPr lvl="2"/>
            <a:r>
              <a:rPr lang="en-US" sz="1800" dirty="0"/>
              <a:t>How the mappers and reducers are run</a:t>
            </a:r>
          </a:p>
          <a:p>
            <a:r>
              <a:rPr lang="en-US" sz="2400" dirty="0"/>
              <a:t>Illustrate:</a:t>
            </a:r>
          </a:p>
          <a:p>
            <a:pPr lvl="1"/>
            <a:r>
              <a:rPr lang="en-US" sz="2000" dirty="0"/>
              <a:t>Demonstrates how sample input data are processed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0F267D-75C0-49D2-9757-1DF9A5181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2C41E851-3A96-4D2B-8EEF-64FB27DFBC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6995" y="2234158"/>
            <a:ext cx="3497580" cy="369332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grunt&gt; DESCRIBE emp;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D1E3E0B-117A-5E42-9EDE-D5E0EF5015C2}"/>
              </a:ext>
            </a:extLst>
          </p:cNvPr>
          <p:cNvGrpSpPr/>
          <p:nvPr/>
        </p:nvGrpSpPr>
        <p:grpSpPr>
          <a:xfrm>
            <a:off x="6497782" y="2196353"/>
            <a:ext cx="4417869" cy="1232647"/>
            <a:chOff x="7944343" y="2748562"/>
            <a:chExt cx="4101465" cy="81427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3A5406A-99ED-4E45-8634-6BC9C83DC943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4343" y="2748562"/>
              <a:ext cx="4101465" cy="371475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F949C5E-F407-4BAB-B3A2-29EFDC30534C}"/>
                </a:ext>
              </a:extLst>
            </p:cNvPr>
            <p:cNvSpPr txBox="1"/>
            <p:nvPr/>
          </p:nvSpPr>
          <p:spPr>
            <a:xfrm>
              <a:off x="8246487" y="3255058"/>
              <a:ext cx="320842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/>
                  </a:solidFill>
                </a:rPr>
                <a:t>Figure 5-14: Structure of </a:t>
              </a:r>
              <a:r>
                <a:rPr lang="en-US" sz="1400" b="1" dirty="0">
                  <a:solidFill>
                    <a:schemeClr val="accent1"/>
                  </a:solidFill>
                </a:rPr>
                <a:t>emp</a:t>
              </a:r>
              <a:r>
                <a:rPr lang="en-US" sz="1400" b="1" i="1" dirty="0">
                  <a:solidFill>
                    <a:schemeClr val="accent1"/>
                  </a:solidFill>
                </a:rPr>
                <a:t> Relation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849487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682BE-0D24-4FF1-8F5C-472964C96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Tutorial B: Group Records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877160-BE60-4A35-8E6D-4E11A2709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31BE8EDF-008D-45BF-8753-8355C57FC7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883639"/>
            <a:ext cx="4433566" cy="880369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grunt&gt; hrs = GROUP emp BY hours;</a:t>
            </a:r>
            <a:endParaRPr lang="en-U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grunt&gt; DUMP hrs;</a:t>
            </a:r>
            <a:endParaRPr lang="en-U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F91B21A8-6D67-466F-B0E0-BCE7E7C03CD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9639" y="2547922"/>
            <a:ext cx="3558540" cy="11969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901814A-1AC3-42AC-80F4-057B9F4463DC}"/>
              </a:ext>
            </a:extLst>
          </p:cNvPr>
          <p:cNvSpPr txBox="1"/>
          <p:nvPr/>
        </p:nvSpPr>
        <p:spPr>
          <a:xfrm>
            <a:off x="838200" y="1768863"/>
            <a:ext cx="1101018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Groups the records of emp according to their average hours worked per week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B88F9F-6341-47AA-8B80-A890D143C4FA}"/>
              </a:ext>
            </a:extLst>
          </p:cNvPr>
          <p:cNvSpPr txBox="1"/>
          <p:nvPr/>
        </p:nvSpPr>
        <p:spPr>
          <a:xfrm>
            <a:off x="5709639" y="3827254"/>
            <a:ext cx="35585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1" dirty="0">
                <a:solidFill>
                  <a:schemeClr val="accent1"/>
                </a:solidFill>
              </a:rPr>
              <a:t>Figure 5-15: group emp by hours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2253F0-E318-4D9B-BB5D-ECF45D5AF397}"/>
              </a:ext>
            </a:extLst>
          </p:cNvPr>
          <p:cNvSpPr txBox="1"/>
          <p:nvPr/>
        </p:nvSpPr>
        <p:spPr>
          <a:xfrm>
            <a:off x="500847" y="4135031"/>
            <a:ext cx="1101018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Groups the empweek by the number of weeks that they have been working for the company</a:t>
            </a:r>
          </a:p>
        </p:txBody>
      </p:sp>
      <p:sp>
        <p:nvSpPr>
          <p:cNvPr id="20" name="Text Box 2">
            <a:extLst>
              <a:ext uri="{FF2B5EF4-FFF2-40B4-BE49-F238E27FC236}">
                <a16:creationId xmlns:a16="http://schemas.microsoft.com/office/drawing/2014/main" id="{6E2B8CC3-2A65-4ABF-A4C1-40652CF417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5081245"/>
            <a:ext cx="4433566" cy="954106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grunt&gt; wk = GROUP empweek BY week;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grunt&gt; DUMP wk;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 descr="A screenshot of a cell phone&#10;&#10;Description automatically generated">
            <a:extLst>
              <a:ext uri="{FF2B5EF4-FFF2-40B4-BE49-F238E27FC236}">
                <a16:creationId xmlns:a16="http://schemas.microsoft.com/office/drawing/2014/main" id="{956532AD-0F1C-4F20-9B7E-8AA310FFF42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9639" y="4789537"/>
            <a:ext cx="3074670" cy="121475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F88909C-8150-4C0C-B935-AD0F4525FA19}"/>
              </a:ext>
            </a:extLst>
          </p:cNvPr>
          <p:cNvSpPr txBox="1"/>
          <p:nvPr/>
        </p:nvSpPr>
        <p:spPr>
          <a:xfrm>
            <a:off x="5271766" y="6035351"/>
            <a:ext cx="39504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1" dirty="0">
                <a:solidFill>
                  <a:schemeClr val="accent1"/>
                </a:solidFill>
              </a:rPr>
              <a:t>Figure 5-16: group empweek by week </a:t>
            </a:r>
          </a:p>
        </p:txBody>
      </p:sp>
    </p:spTree>
    <p:extLst>
      <p:ext uri="{BB962C8B-B14F-4D97-AF65-F5344CB8AC3E}">
        <p14:creationId xmlns:p14="http://schemas.microsoft.com/office/powerpoint/2010/main" val="2550685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86A44-6C29-4C4A-BD13-9AEED4244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Tutorial B: Cogroup Records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5D6146-89E5-44D2-93D6-94C1EF8A8D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Brings groups together with tuples that have the same group key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8EE74F-CBB9-46E2-8C41-DF743A2C4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986E215A-6CC7-42EA-B8FD-4A48F8B215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800810"/>
            <a:ext cx="5645727" cy="953772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grunt&gt; groupID = COGROUP emp BY id, empweek BY id;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grunt&gt; DUMP groupID;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FB86E920-8115-4218-9720-575A2AA217B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494" y="2795053"/>
            <a:ext cx="3604260" cy="138303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FA79FD8-CCDE-43D3-BD4D-C0FBB83FFE77}"/>
              </a:ext>
            </a:extLst>
          </p:cNvPr>
          <p:cNvSpPr txBox="1"/>
          <p:nvPr/>
        </p:nvSpPr>
        <p:spPr>
          <a:xfrm>
            <a:off x="7200900" y="4439757"/>
            <a:ext cx="3823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1" dirty="0">
                <a:solidFill>
                  <a:schemeClr val="accent1"/>
                </a:solidFill>
              </a:rPr>
              <a:t>Figure 5-17: Results of the </a:t>
            </a:r>
            <a:r>
              <a:rPr lang="en-US" sz="1400" b="1" dirty="0">
                <a:solidFill>
                  <a:schemeClr val="accent1"/>
                </a:solidFill>
              </a:rPr>
              <a:t>cogroup</a:t>
            </a:r>
            <a:r>
              <a:rPr lang="en-US" sz="1400" b="1" i="1" dirty="0">
                <a:solidFill>
                  <a:schemeClr val="accent1"/>
                </a:solidFill>
              </a:rPr>
              <a:t> Command</a:t>
            </a:r>
          </a:p>
        </p:txBody>
      </p:sp>
    </p:spTree>
    <p:extLst>
      <p:ext uri="{BB962C8B-B14F-4D97-AF65-F5344CB8AC3E}">
        <p14:creationId xmlns:p14="http://schemas.microsoft.com/office/powerpoint/2010/main" val="8386837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E3F72-F390-469E-846F-EDBC12505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Tutorial B: Union Records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BF494F-4836-4353-AECC-3D433E380C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en-US" dirty="0"/>
              <a:t>Combines multiple relations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A6AF48-A6C9-4985-9910-5A1BCF14C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21F30EF5-7178-483F-9931-831757F2E1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198" y="2742832"/>
            <a:ext cx="4591121" cy="994978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grunt&gt; bigFile = UNION emp, empweek;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grunt&gt; DUMP bigFile;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E65E1508-FA43-4BE5-B483-C66EBCBBEFB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2041" y="2742832"/>
            <a:ext cx="1788160" cy="28352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9BAB769-4E2E-43FE-A932-C948C0C89072}"/>
              </a:ext>
            </a:extLst>
          </p:cNvPr>
          <p:cNvSpPr txBox="1"/>
          <p:nvPr/>
        </p:nvSpPr>
        <p:spPr>
          <a:xfrm>
            <a:off x="5429320" y="5713044"/>
            <a:ext cx="33536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1" dirty="0">
                <a:solidFill>
                  <a:schemeClr val="accent1"/>
                </a:solidFill>
              </a:rPr>
              <a:t>Figure 5-18: Results of the </a:t>
            </a:r>
            <a:r>
              <a:rPr lang="en-US" sz="1400" b="1" dirty="0">
                <a:solidFill>
                  <a:schemeClr val="accent1"/>
                </a:solidFill>
              </a:rPr>
              <a:t>union</a:t>
            </a:r>
            <a:r>
              <a:rPr lang="en-US" sz="1400" b="1" i="1" dirty="0">
                <a:solidFill>
                  <a:schemeClr val="accent1"/>
                </a:solidFill>
              </a:rPr>
              <a:t> Command </a:t>
            </a:r>
          </a:p>
        </p:txBody>
      </p:sp>
    </p:spTree>
    <p:extLst>
      <p:ext uri="{BB962C8B-B14F-4D97-AF65-F5344CB8AC3E}">
        <p14:creationId xmlns:p14="http://schemas.microsoft.com/office/powerpoint/2010/main" val="39937001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9B8C7-2BC4-4A61-BA4A-4084F4C1A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Tutorial B: Order Results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1EDAD6-FC9B-47DE-AE05-BF999ABAFA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Used to order tuples by a certain category or field</a:t>
            </a:r>
          </a:p>
          <a:p>
            <a:pPr lvl="1"/>
            <a:r>
              <a:rPr lang="en-US" dirty="0"/>
              <a:t>The asc or desc qualifier is used to order the tuples in ascending or descending order</a:t>
            </a:r>
          </a:p>
          <a:p>
            <a:pPr lvl="1"/>
            <a:r>
              <a:rPr lang="en-US" dirty="0"/>
              <a:t>By default, the tuples are ordered in ascending order, and asc might be omitted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4723F1-96F3-4A93-9902-755197834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A49316A5-4205-40F2-B74D-AA473DD79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199" y="4001294"/>
            <a:ext cx="4828309" cy="923330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grunt&gt; mosthours = ORDER emp BY hours DESC;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grunt&gt; DUMP mosthours;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4B3EAD77-2E3C-4F5A-83E8-6FBE1612666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825585"/>
            <a:ext cx="1953260" cy="165481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8E15B1F-54F6-437C-8A96-E468CC80E956}"/>
              </a:ext>
            </a:extLst>
          </p:cNvPr>
          <p:cNvSpPr txBox="1"/>
          <p:nvPr/>
        </p:nvSpPr>
        <p:spPr>
          <a:xfrm>
            <a:off x="5326687" y="5674790"/>
            <a:ext cx="3962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1" dirty="0">
                <a:solidFill>
                  <a:schemeClr val="accent1"/>
                </a:solidFill>
              </a:rPr>
              <a:t>Figure 5-19: Results of the </a:t>
            </a:r>
            <a:r>
              <a:rPr lang="en-US" sz="1400" b="1" dirty="0">
                <a:solidFill>
                  <a:schemeClr val="accent1"/>
                </a:solidFill>
              </a:rPr>
              <a:t>order</a:t>
            </a:r>
            <a:r>
              <a:rPr lang="en-US" sz="1400" b="1" i="1" dirty="0">
                <a:solidFill>
                  <a:schemeClr val="accent1"/>
                </a:solidFill>
              </a:rPr>
              <a:t> Command</a:t>
            </a:r>
          </a:p>
        </p:txBody>
      </p:sp>
    </p:spTree>
    <p:extLst>
      <p:ext uri="{BB962C8B-B14F-4D97-AF65-F5344CB8AC3E}">
        <p14:creationId xmlns:p14="http://schemas.microsoft.com/office/powerpoint/2010/main" val="21287640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48647-0E91-4A01-BD80-3B7AE5CC6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Tutorial B: Limit Records and Store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37CAE0-842F-4D71-A7A5-296C0764B6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Display a certain number of records in a relation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B2439A-3152-4F98-909F-20B09491C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D5A07191-37C4-4507-B0DF-4B2BA88819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028751"/>
            <a:ext cx="3862137" cy="646331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grunt&gt; topEmp = LIMIT mosthours 3;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grunt&gt; DUMP topEmp;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picture containing holding, people&#10;&#10;Description automatically generated">
            <a:extLst>
              <a:ext uri="{FF2B5EF4-FFF2-40B4-BE49-F238E27FC236}">
                <a16:creationId xmlns:a16="http://schemas.microsoft.com/office/drawing/2014/main" id="{F6035958-4C54-41A3-96BE-2AC93D0F3BD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500" y="2825445"/>
            <a:ext cx="2574256" cy="105294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41D1DB1-3521-4BD1-BC54-87F3A2E53AB8}"/>
              </a:ext>
            </a:extLst>
          </p:cNvPr>
          <p:cNvSpPr txBox="1"/>
          <p:nvPr/>
        </p:nvSpPr>
        <p:spPr>
          <a:xfrm>
            <a:off x="6509334" y="4001294"/>
            <a:ext cx="32725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600"/>
              </a:spcAft>
            </a:pPr>
            <a:r>
              <a:rPr lang="en-US" sz="1400" b="1" i="1" dirty="0">
                <a:solidFill>
                  <a:schemeClr val="accent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Figure 5‑20: Results of the </a:t>
            </a:r>
            <a:r>
              <a:rPr lang="en-US" sz="1400" b="1" dirty="0">
                <a:solidFill>
                  <a:schemeClr val="accent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limit</a:t>
            </a:r>
            <a:r>
              <a:rPr lang="en-US" sz="1400" b="1" i="1" dirty="0">
                <a:solidFill>
                  <a:schemeClr val="accent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Command</a:t>
            </a:r>
          </a:p>
        </p:txBody>
      </p:sp>
      <p:sp>
        <p:nvSpPr>
          <p:cNvPr id="10" name="Text Box 2">
            <a:extLst>
              <a:ext uri="{FF2B5EF4-FFF2-40B4-BE49-F238E27FC236}">
                <a16:creationId xmlns:a16="http://schemas.microsoft.com/office/drawing/2014/main" id="{FAAE0F1D-FF88-464E-9B01-61722C571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878208"/>
            <a:ext cx="4894954" cy="369332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grunt&gt; STORE topEmp INTO 'PG/TutorialB/output';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1068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2A1AA-2E68-4689-9D6D-8BFAF05EC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Tutorial B: List Results in HDFS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94EAE0-CCD2-4FA4-9FC1-046574B32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69620C4F-996B-424B-AAA0-D135408F40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330951"/>
            <a:ext cx="4292974" cy="923330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$ hadoop fs -ls PG/TutorialB/output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i="1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$ hadoop fs –cat PG/TutorialB/output/p*</a:t>
            </a:r>
            <a:endParaRPr lang="en-U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BA30DFFB-86CE-4C8E-AC5C-539EAEA42F5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787167"/>
            <a:ext cx="5943600" cy="55499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D3F586F-2F07-4D38-AC23-5EB629853937}"/>
              </a:ext>
            </a:extLst>
          </p:cNvPr>
          <p:cNvSpPr txBox="1"/>
          <p:nvPr/>
        </p:nvSpPr>
        <p:spPr>
          <a:xfrm>
            <a:off x="1098884" y="4523692"/>
            <a:ext cx="54222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1" dirty="0">
                <a:solidFill>
                  <a:schemeClr val="accent1"/>
                </a:solidFill>
              </a:rPr>
              <a:t>Figure 5-21: Top Employees in the Output Directory File</a:t>
            </a:r>
          </a:p>
        </p:txBody>
      </p:sp>
      <p:pic>
        <p:nvPicPr>
          <p:cNvPr id="14" name="Picture 13" descr="A close up of a person&#10;&#10;Description automatically generated">
            <a:extLst>
              <a:ext uri="{FF2B5EF4-FFF2-40B4-BE49-F238E27FC236}">
                <a16:creationId xmlns:a16="http://schemas.microsoft.com/office/drawing/2014/main" id="{AD998EF7-011D-41A3-8DC0-887D718498F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7630" y="3724592"/>
            <a:ext cx="3010602" cy="7365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CD653AA-0B73-4AC3-818A-19AC19CFF47F}"/>
              </a:ext>
            </a:extLst>
          </p:cNvPr>
          <p:cNvSpPr txBox="1"/>
          <p:nvPr/>
        </p:nvSpPr>
        <p:spPr>
          <a:xfrm>
            <a:off x="8598569" y="4549767"/>
            <a:ext cx="2919663" cy="317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1" dirty="0">
                <a:solidFill>
                  <a:schemeClr val="accent1"/>
                </a:solidFill>
              </a:rPr>
              <a:t>Figure 5-22: Top Employees File</a:t>
            </a:r>
          </a:p>
        </p:txBody>
      </p:sp>
    </p:spTree>
    <p:extLst>
      <p:ext uri="{BB962C8B-B14F-4D97-AF65-F5344CB8AC3E}">
        <p14:creationId xmlns:p14="http://schemas.microsoft.com/office/powerpoint/2010/main" val="5397353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477237-0C19-42F0-BD66-129D1B362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6" name="Text Box 617003574">
            <a:extLst>
              <a:ext uri="{FF2B5EF4-FFF2-40B4-BE49-F238E27FC236}">
                <a16:creationId xmlns:a16="http://schemas.microsoft.com/office/drawing/2014/main" id="{255259C1-D5A7-4DB8-8C14-0FB6CB67F69E}"/>
              </a:ext>
            </a:extLst>
          </p:cNvPr>
          <p:cNvSpPr txBox="1"/>
          <p:nvPr/>
        </p:nvSpPr>
        <p:spPr>
          <a:xfrm>
            <a:off x="613394" y="582067"/>
            <a:ext cx="10797045" cy="5693866"/>
          </a:xfrm>
          <a:prstGeom prst="rect">
            <a:avLst/>
          </a:prstGeom>
          <a:solidFill>
            <a:srgbClr val="C6D9F1"/>
          </a:solidFill>
          <a:ln w="6350">
            <a:solidFill>
              <a:srgbClr val="000000"/>
            </a:solidFill>
          </a:ln>
        </p:spPr>
        <p:txBody>
          <a:bodyPr rot="0" spcFirstLastPara="0" vert="horz" wrap="square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 hadoop fs -mkdir PG/TutorialB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 hadoop fs -mkdir PG/TutorialB/input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 hadoop fs -copyFromLocal EmployeePT PG/TutorialB/input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 hadoop fs -copyFromLocal EmployeeWeek PG/TutorialB/input 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 pig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emp = LOAD 'PG/TutorialB/input/EmployeePT' AS(id:int, name:chararray, age:int, hours:float);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DUMP emp;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empweek = LOAD 'PG/TutorialB/input/EmployeeWeek' AS(id:int, name:chararray, week:int);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DUMP empweek;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DESCRIBE emp;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hrs = GROUP emp BY hours;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DUMP hrs;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wk = GROUP empweek BY week;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DUMP wk;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groupID = COGROUP emp BY id, empweek BY id;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DUMP groupID;                         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bigFile = UNION emp, empweek;                        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DUMP bigFile;                               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mosthours = ORDER emp BY hours DESC;                     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DUMP mosthours;                             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topEmp = LIMIT mosthours 3;                         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DUMP topEmp;                                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STORE topEmp INTO 'PG/TutorialB/output';               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quit                                     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 hadoop fs -ls PG/TutorialB/output                              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sz="1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 hadoop fs -cat PG/TutorialB/output/p* </a:t>
            </a:r>
            <a:endParaRPr lang="en-US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F446A4-4DC4-2748-9B56-442D54A462A6}"/>
              </a:ext>
            </a:extLst>
          </p:cNvPr>
          <p:cNvSpPr txBox="1"/>
          <p:nvPr/>
        </p:nvSpPr>
        <p:spPr>
          <a:xfrm>
            <a:off x="3449053" y="144197"/>
            <a:ext cx="43474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1" dirty="0">
                <a:solidFill>
                  <a:schemeClr val="accent1"/>
                </a:solidFill>
              </a:rPr>
              <a:t>Box 5-2: Summary of Tutorial B</a:t>
            </a:r>
          </a:p>
        </p:txBody>
      </p:sp>
    </p:spTree>
    <p:extLst>
      <p:ext uri="{BB962C8B-B14F-4D97-AF65-F5344CB8AC3E}">
        <p14:creationId xmlns:p14="http://schemas.microsoft.com/office/powerpoint/2010/main" val="33558802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7F6F5-6083-4E4E-B6D6-481924065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Tutorial C: The WordCount Problem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0565CD-D450-40BC-807E-AEFC141E1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42</a:t>
            </a:fld>
            <a:endParaRPr lang="en-US" dirty="0"/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7785F684-5959-4441-9042-E48248072C3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607" y="1690688"/>
            <a:ext cx="3734786" cy="41050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04E4284-DBE6-45FD-B11E-0C1905BBF3DD}"/>
              </a:ext>
            </a:extLst>
          </p:cNvPr>
          <p:cNvSpPr txBox="1"/>
          <p:nvPr/>
        </p:nvSpPr>
        <p:spPr>
          <a:xfrm>
            <a:off x="4228607" y="5795762"/>
            <a:ext cx="32244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1" dirty="0">
                <a:solidFill>
                  <a:schemeClr val="accent1"/>
                </a:solidFill>
              </a:rPr>
              <a:t>Figure 5-23: Sample Input File</a:t>
            </a:r>
          </a:p>
        </p:txBody>
      </p:sp>
    </p:spTree>
    <p:extLst>
      <p:ext uri="{BB962C8B-B14F-4D97-AF65-F5344CB8AC3E}">
        <p14:creationId xmlns:p14="http://schemas.microsoft.com/office/powerpoint/2010/main" val="21851582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3DC39-131B-4FAE-B548-3D137DE2A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024" y="354430"/>
            <a:ext cx="11353800" cy="1198826"/>
          </a:xfrm>
        </p:spPr>
        <p:txBody>
          <a:bodyPr>
            <a:normAutofit fontScale="90000"/>
          </a:bodyPr>
          <a:lstStyle/>
          <a:p>
            <a:r>
              <a:rPr lang="en-US" dirty="0"/>
              <a:t>Tutorial C: Create Directories and Upload Files in HDFS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95529-E8CD-4F53-BB6C-CF7C4D40D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08C7153B-DEAB-4F84-8720-29BBBEFCC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6511" y="2266509"/>
            <a:ext cx="6238975" cy="1051326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$ hadoop fs -mkdir PG/TutorialC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$ hadoop fs -mkdir PG/TutorialC/input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$ hadoop fs -copyFromLocal excerpt.txt PG/TutorialC/input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MS Gothic" panose="020B0609070205080204" pitchFamily="49" charset="-128"/>
                <a:cs typeface="Times New Roman" panose="02020603050405020304" pitchFamily="18" charset="0"/>
              </a:rPr>
              <a:t> 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MS Gothic" panose="020B0609070205080204" pitchFamily="49" charset="-128"/>
                <a:cs typeface="Times New Roman" panose="02020603050405020304" pitchFamily="18" charset="0"/>
              </a:rPr>
              <a:t> 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999DA307-64F4-4638-B268-ECC888D20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6511" y="3638441"/>
            <a:ext cx="1410302" cy="357505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$ pig</a:t>
            </a:r>
            <a:r>
              <a:rPr lang="en-US" i="1" dirty="0">
                <a:solidFill>
                  <a:schemeClr val="tx1"/>
                </a:solidFill>
                <a:effectLst/>
                <a:ea typeface="MS Gothic" panose="020B0609070205080204" pitchFamily="49" charset="-128"/>
                <a:cs typeface="Times New Roman" panose="02020603050405020304" pitchFamily="18" charset="0"/>
              </a:rPr>
              <a:t> 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30322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8C186-070C-4AE7-A914-164C1C7D5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Tutorial C: Load File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178B31-5A17-4582-A758-3307EC044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01A31ECA-158F-4145-AF04-10913242E0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764" y="1931669"/>
            <a:ext cx="8545875" cy="923825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grunt&gt; lines = LOAD 'PG/TutorialC/input/excerpt.txt' AS(line:chararray);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grunt &gt; DUMP lines;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MS Gothic" panose="020B0609070205080204" pitchFamily="49" charset="-128"/>
                <a:cs typeface="Times New Roman" panose="02020603050405020304" pitchFamily="18" charset="0"/>
              </a:rPr>
              <a:t> 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4ED8B71-87BA-4C4B-B4F0-99C10C629615}"/>
              </a:ext>
            </a:extLst>
          </p:cNvPr>
          <p:cNvGrpSpPr/>
          <p:nvPr/>
        </p:nvGrpSpPr>
        <p:grpSpPr>
          <a:xfrm>
            <a:off x="3434846" y="3609109"/>
            <a:ext cx="5322309" cy="1925938"/>
            <a:chOff x="3434846" y="3609109"/>
            <a:chExt cx="5322309" cy="1925938"/>
          </a:xfrm>
        </p:grpSpPr>
        <p:pic>
          <p:nvPicPr>
            <p:cNvPr id="7" name="Picture 6" descr="A screenshot of a cell phone&#10;&#10;Description automatically generated">
              <a:extLst>
                <a:ext uri="{FF2B5EF4-FFF2-40B4-BE49-F238E27FC236}">
                  <a16:creationId xmlns:a16="http://schemas.microsoft.com/office/drawing/2014/main" id="{59472E73-0535-4E84-B859-AE3282359A90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4846" y="3609109"/>
              <a:ext cx="5322309" cy="1518686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BCA751A-9182-4DE7-865A-AA3AFB882E88}"/>
                </a:ext>
              </a:extLst>
            </p:cNvPr>
            <p:cNvSpPr txBox="1"/>
            <p:nvPr/>
          </p:nvSpPr>
          <p:spPr>
            <a:xfrm>
              <a:off x="3761873" y="5227270"/>
              <a:ext cx="466825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/>
                  </a:solidFill>
                </a:rPr>
                <a:t>Figure 5 24: Loaded </a:t>
              </a:r>
              <a:r>
                <a:rPr lang="en-US" sz="1400" b="1" dirty="0">
                  <a:solidFill>
                    <a:schemeClr val="accent1"/>
                  </a:solidFill>
                </a:rPr>
                <a:t>excerpt.txt</a:t>
              </a:r>
              <a:r>
                <a:rPr lang="en-US" sz="1400" b="1" i="1" dirty="0">
                  <a:solidFill>
                    <a:schemeClr val="accent1"/>
                  </a:solidFill>
                </a:rPr>
                <a:t> File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11746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76D8D-FD23-45D6-AC09-0A204E911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Tutorial C: Create Bags of Words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E1A41-2C01-4208-96DF-DAD0963618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4237" y="1825625"/>
            <a:ext cx="10709564" cy="4351338"/>
          </a:xfrm>
        </p:spPr>
        <p:txBody>
          <a:bodyPr/>
          <a:lstStyle/>
          <a:p>
            <a:r>
              <a:rPr lang="en-US" dirty="0"/>
              <a:t>Tokenize function creates a "bag" of words</a:t>
            </a:r>
          </a:p>
          <a:p>
            <a:r>
              <a:rPr lang="en-US" dirty="0"/>
              <a:t>Flatten function converts each word into a tuple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55BEDE-313A-44C1-950B-1C3677F33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2958B23D-3C79-44D0-99D0-8C016AA2B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236" y="3040661"/>
            <a:ext cx="7710055" cy="967560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grunt&gt; WORDS = FOREACH lines GENERATE FLATTEN(TOKENIZE(line)) AS word;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grunt &gt; DUMP WORDS;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MS Gothic" panose="020B0609070205080204" pitchFamily="49" charset="-128"/>
                <a:cs typeface="Times New Roman" panose="02020603050405020304" pitchFamily="18" charset="0"/>
              </a:rPr>
              <a:t> 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FD4618F-2EF6-3A44-AE27-C13DE0D63AEB}"/>
              </a:ext>
            </a:extLst>
          </p:cNvPr>
          <p:cNvGrpSpPr/>
          <p:nvPr/>
        </p:nvGrpSpPr>
        <p:grpSpPr>
          <a:xfrm>
            <a:off x="7490359" y="2091445"/>
            <a:ext cx="4267200" cy="3272113"/>
            <a:chOff x="7490359" y="2091445"/>
            <a:chExt cx="4267200" cy="3272113"/>
          </a:xfrm>
        </p:grpSpPr>
        <p:pic>
          <p:nvPicPr>
            <p:cNvPr id="7" name="Picture 6" descr="A screenshot of a cell phone&#10;&#10;Description automatically generated">
              <a:extLst>
                <a:ext uri="{FF2B5EF4-FFF2-40B4-BE49-F238E27FC236}">
                  <a16:creationId xmlns:a16="http://schemas.microsoft.com/office/drawing/2014/main" id="{AF17B86C-5D57-4D19-8FD0-833C81B4BC12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62313" y="2091445"/>
              <a:ext cx="1523292" cy="2842226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78F98F3-ECDA-4EAE-938B-2DA75B1155DE}"/>
                </a:ext>
              </a:extLst>
            </p:cNvPr>
            <p:cNvSpPr txBox="1"/>
            <p:nvPr/>
          </p:nvSpPr>
          <p:spPr>
            <a:xfrm>
              <a:off x="7490359" y="5055781"/>
              <a:ext cx="42672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/>
                  </a:solidFill>
                </a:rPr>
                <a:t>Figure 5-25: Tokenized and Flattened Words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364730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45234-041E-46B5-B72F-40E477252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Tutorial C: Group Words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B14A53-3B5E-48C2-916D-1D1063A3E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BF9CC200-3892-4FB2-AE80-2FA3AE2BB3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753739"/>
            <a:ext cx="5474970" cy="984515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grunt&gt; GroupedWords = GROUP WORDS BY word;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grunt &gt; DUMP GroupedWords;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MS Gothic" panose="020B0609070205080204" pitchFamily="49" charset="-128"/>
                <a:cs typeface="Times New Roman" panose="02020603050405020304" pitchFamily="18" charset="0"/>
              </a:rPr>
              <a:t> 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3A2CDEEA-297B-4091-8977-FE8D62217C3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8042" y="2021205"/>
            <a:ext cx="2247900" cy="281559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AEE9FC9-0827-4047-BD7D-D48F4975CF3F}"/>
              </a:ext>
            </a:extLst>
          </p:cNvPr>
          <p:cNvSpPr txBox="1"/>
          <p:nvPr/>
        </p:nvSpPr>
        <p:spPr>
          <a:xfrm>
            <a:off x="7059234" y="5013423"/>
            <a:ext cx="36255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1" dirty="0">
                <a:solidFill>
                  <a:schemeClr val="accent1"/>
                </a:solidFill>
              </a:rPr>
              <a:t>Figure 5-26: Grouped Words</a:t>
            </a:r>
          </a:p>
        </p:txBody>
      </p:sp>
    </p:spTree>
    <p:extLst>
      <p:ext uri="{BB962C8B-B14F-4D97-AF65-F5344CB8AC3E}">
        <p14:creationId xmlns:p14="http://schemas.microsoft.com/office/powerpoint/2010/main" val="1397543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51C29-72DA-419C-AF52-7463E6CE3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Tutorial C: Count Frequency and Sort the Results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B610EE-B692-45C0-BD7A-FF62EA515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E464E865-8557-42B5-8BAC-3DB0A95D14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05" y="1621256"/>
            <a:ext cx="9623440" cy="923330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grunt&gt; WordCount = FOREACH GroupedWords GENERATE group, COUNT(WORDS) AS frequency;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grunt&gt; dump WordCount;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5E38AA1-D2E7-764C-80CF-B5E9AD000B9A}"/>
              </a:ext>
            </a:extLst>
          </p:cNvPr>
          <p:cNvGrpSpPr/>
          <p:nvPr/>
        </p:nvGrpSpPr>
        <p:grpSpPr>
          <a:xfrm>
            <a:off x="9311950" y="1593112"/>
            <a:ext cx="2774445" cy="2319057"/>
            <a:chOff x="5427445" y="1630525"/>
            <a:chExt cx="3641558" cy="2319057"/>
          </a:xfrm>
        </p:grpSpPr>
        <p:pic>
          <p:nvPicPr>
            <p:cNvPr id="7" name="Picture 6" descr="A picture containing table&#10;&#10;Description automatically generated">
              <a:extLst>
                <a:ext uri="{FF2B5EF4-FFF2-40B4-BE49-F238E27FC236}">
                  <a16:creationId xmlns:a16="http://schemas.microsoft.com/office/drawing/2014/main" id="{B2875434-2879-4E4F-8491-6888B130B1E4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62750" y="1630525"/>
              <a:ext cx="1247254" cy="2018198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02D2B7B-6B42-4A7B-BE4C-C60B98A05147}"/>
                </a:ext>
              </a:extLst>
            </p:cNvPr>
            <p:cNvSpPr txBox="1"/>
            <p:nvPr/>
          </p:nvSpPr>
          <p:spPr>
            <a:xfrm>
              <a:off x="5427445" y="3644600"/>
              <a:ext cx="3641558" cy="3049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/>
                  </a:solidFill>
                </a:rPr>
                <a:t>Figure 5-27: Counted Words</a:t>
              </a:r>
            </a:p>
          </p:txBody>
        </p:sp>
      </p:grpSp>
      <p:sp>
        <p:nvSpPr>
          <p:cNvPr id="12" name="Text Box 2">
            <a:extLst>
              <a:ext uri="{FF2B5EF4-FFF2-40B4-BE49-F238E27FC236}">
                <a16:creationId xmlns:a16="http://schemas.microsoft.com/office/drawing/2014/main" id="{3DDCA8EB-F9DC-431B-856E-518EF97DB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04" y="4182552"/>
            <a:ext cx="8890845" cy="923330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grunt&gt; OrderedList = ORDER WordCount BY frequency DESC;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grunt&gt; DUMP OrderedList;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C0E0B30-0E0E-A741-8775-1F791D824808}"/>
              </a:ext>
            </a:extLst>
          </p:cNvPr>
          <p:cNvGrpSpPr/>
          <p:nvPr/>
        </p:nvGrpSpPr>
        <p:grpSpPr>
          <a:xfrm>
            <a:off x="8503024" y="4065761"/>
            <a:ext cx="3352800" cy="2219284"/>
            <a:chOff x="5716203" y="4219353"/>
            <a:chExt cx="3352800" cy="2219284"/>
          </a:xfrm>
        </p:grpSpPr>
        <p:pic>
          <p:nvPicPr>
            <p:cNvPr id="13" name="Picture 12" descr="A screenshot of a cell phone&#10;&#10;Description automatically generated">
              <a:extLst>
                <a:ext uri="{FF2B5EF4-FFF2-40B4-BE49-F238E27FC236}">
                  <a16:creationId xmlns:a16="http://schemas.microsoft.com/office/drawing/2014/main" id="{E9E5D69C-D547-419C-80CC-489C9D2CEDDB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58370" y="4219353"/>
              <a:ext cx="880310" cy="1963928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C9B989A-A761-49A8-87F3-F7592CFC718B}"/>
                </a:ext>
              </a:extLst>
            </p:cNvPr>
            <p:cNvSpPr txBox="1"/>
            <p:nvPr/>
          </p:nvSpPr>
          <p:spPr>
            <a:xfrm>
              <a:off x="5716203" y="6133654"/>
              <a:ext cx="3352800" cy="3049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i="1" dirty="0">
                  <a:solidFill>
                    <a:schemeClr val="accent1"/>
                  </a:solidFill>
                </a:rPr>
                <a:t>Figure 5 28: Ordered Words by Frequency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80609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87DBD-DC20-44E8-85F9-6DCD9CE5A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Tutorial C: Store and Display in HDFS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4D8F61-0899-4188-9B64-6F5226FA6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274C95A6-90DD-4797-AC6A-EE60C65151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087095"/>
            <a:ext cx="6684818" cy="923330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grunt&gt; STORE OrderedList INTO 'PG/TutorialC/output’;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i="1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grunt&gt; quit;</a:t>
            </a:r>
            <a:endParaRPr lang="en-US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86A64301-6C1D-4F7B-95BC-677CED3A3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627138"/>
            <a:ext cx="4563484" cy="923330"/>
          </a:xfrm>
          <a:prstGeom prst="rect">
            <a:avLst/>
          </a:prstGeom>
          <a:solidFill>
            <a:srgbClr val="C6D9F1"/>
          </a:solidFill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anchor="t" anchorCtr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$ hadoop fs -ls PG/TutorialC/output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i="1" dirty="0">
              <a:solidFill>
                <a:schemeClr val="tx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$ hadoop fs -cat PG/TutorialC/output/p*</a:t>
            </a:r>
            <a:endParaRPr 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picture containing photo, black, computer, people&#10;&#10;Description automatically generated">
            <a:extLst>
              <a:ext uri="{FF2B5EF4-FFF2-40B4-BE49-F238E27FC236}">
                <a16:creationId xmlns:a16="http://schemas.microsoft.com/office/drawing/2014/main" id="{BEECBB0C-41C5-4262-943A-C13B22A7F60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2358" y="2087095"/>
            <a:ext cx="867410" cy="290576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BF1FBC6-177B-43D3-88AA-D06F4235DE91}"/>
              </a:ext>
            </a:extLst>
          </p:cNvPr>
          <p:cNvSpPr txBox="1"/>
          <p:nvPr/>
        </p:nvSpPr>
        <p:spPr>
          <a:xfrm>
            <a:off x="6601326" y="5081485"/>
            <a:ext cx="36094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1" dirty="0">
                <a:solidFill>
                  <a:schemeClr val="accent1"/>
                </a:solidFill>
              </a:rPr>
              <a:t>Figure 5-29: Stored Results</a:t>
            </a:r>
          </a:p>
        </p:txBody>
      </p:sp>
    </p:spTree>
    <p:extLst>
      <p:ext uri="{BB962C8B-B14F-4D97-AF65-F5344CB8AC3E}">
        <p14:creationId xmlns:p14="http://schemas.microsoft.com/office/powerpoint/2010/main" val="13299782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A5E16-61DA-408A-9903-1E999FA99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6" name="Text Box 208">
            <a:extLst>
              <a:ext uri="{FF2B5EF4-FFF2-40B4-BE49-F238E27FC236}">
                <a16:creationId xmlns:a16="http://schemas.microsoft.com/office/drawing/2014/main" id="{77964578-A199-4E4F-A84E-335ADC365633}"/>
              </a:ext>
            </a:extLst>
          </p:cNvPr>
          <p:cNvSpPr txBox="1"/>
          <p:nvPr/>
        </p:nvSpPr>
        <p:spPr>
          <a:xfrm>
            <a:off x="1548063" y="889843"/>
            <a:ext cx="9095874" cy="5078313"/>
          </a:xfrm>
          <a:prstGeom prst="rect">
            <a:avLst/>
          </a:prstGeom>
          <a:solidFill>
            <a:srgbClr val="C6D9F1"/>
          </a:solidFill>
          <a:ln w="6350">
            <a:solidFill>
              <a:srgbClr val="000000"/>
            </a:solidFill>
          </a:ln>
        </p:spPr>
        <p:txBody>
          <a:bodyPr rot="0" spcFirstLastPara="0" vert="horz" wrap="square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 hadoop fs -mkdir PG/TutorialC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 hadoop fs -mkdir PG/TutorialC/input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 hadoop fs -copyFromLocal excerpt.txt PG/TutorialC/input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 pig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lines = LOAD 'PG/TutorialC/input/excerpt.txt' AS(line:chararray);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DUMP lines;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WORDS = FOREACH lines GENERATE FLATTEN(TOKENIZE(line)) AS word;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DUMP WORDS;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GroupedWords = GROUP WORDS BY word;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DUMP GroupedWords;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WordCount = FOREACH GroupedWords GENERATE group, COUNT(WORDS) AS frequency;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DUMP WordCount;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OrderedList = ORDER WordCount BY frequency DESC;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DUMP OrderedList;                          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STORE OrderedList INTO 'PG/TutorialC/output';             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quit                                     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 hadoop fs -ls PG/TutorialC/output                                     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$ hadoop fs -cat PG/TutorialC/output/p*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71C06E-C09E-2942-830F-826F8AEBC0DD}"/>
              </a:ext>
            </a:extLst>
          </p:cNvPr>
          <p:cNvSpPr txBox="1"/>
          <p:nvPr/>
        </p:nvSpPr>
        <p:spPr>
          <a:xfrm>
            <a:off x="3449053" y="144197"/>
            <a:ext cx="43474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1" dirty="0">
                <a:solidFill>
                  <a:schemeClr val="accent1"/>
                </a:solidFill>
              </a:rPr>
              <a:t>Box 5-3: Summary of Tutorial C</a:t>
            </a:r>
          </a:p>
        </p:txBody>
      </p:sp>
    </p:spTree>
    <p:extLst>
      <p:ext uri="{BB962C8B-B14F-4D97-AF65-F5344CB8AC3E}">
        <p14:creationId xmlns:p14="http://schemas.microsoft.com/office/powerpoint/2010/main" val="181278742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E5E54-C80B-4DBF-8BB3-0FDE10B0A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5" y="365125"/>
            <a:ext cx="11663319" cy="1086037"/>
          </a:xfrm>
        </p:spPr>
        <p:txBody>
          <a:bodyPr>
            <a:normAutofit fontScale="90000"/>
          </a:bodyPr>
          <a:lstStyle/>
          <a:p>
            <a:r>
              <a:rPr lang="en-US" dirty="0"/>
              <a:t>Additional Considerations When Using Pig and Pig Latin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6B8472-77EA-48E2-8A32-9673E9E057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2237" y="1451162"/>
            <a:ext cx="10487526" cy="461301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Pig is not intended to replace MapReduce: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It offers more efficiency when coding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Execution engine's runtime is significantly higher and can lead to significant delay in data processing</a:t>
            </a:r>
          </a:p>
          <a:p>
            <a:pPr>
              <a:lnSpc>
                <a:spcPct val="110000"/>
              </a:lnSpc>
            </a:pPr>
            <a:r>
              <a:rPr lang="en-US" dirty="0"/>
              <a:t>First step of using Pig for data analysis is to use </a:t>
            </a:r>
            <a:r>
              <a:rPr lang="en-US" b="1" i="1" dirty="0"/>
              <a:t>PigStorage</a:t>
            </a:r>
            <a:r>
              <a:rPr lang="en-US" dirty="0"/>
              <a:t> when loading files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You may use </a:t>
            </a:r>
            <a:r>
              <a:rPr lang="en-US" b="1" i="1" dirty="0"/>
              <a:t>HBaseStorage</a:t>
            </a:r>
            <a:r>
              <a:rPr lang="en-US" dirty="0"/>
              <a:t> when loading data from HBase</a:t>
            </a:r>
          </a:p>
          <a:p>
            <a:pPr lvl="1">
              <a:lnSpc>
                <a:spcPct val="110000"/>
              </a:lnSpc>
            </a:pPr>
            <a:r>
              <a:rPr lang="en-US" b="1" i="1" dirty="0"/>
              <a:t>BinStorage</a:t>
            </a:r>
            <a:r>
              <a:rPr lang="en-US" dirty="0"/>
              <a:t> is used when loading data from Binary files</a:t>
            </a:r>
          </a:p>
          <a:p>
            <a:pPr lvl="1">
              <a:lnSpc>
                <a:spcPct val="110000"/>
              </a:lnSpc>
            </a:pPr>
            <a:r>
              <a:rPr lang="en-US" b="1" i="1" dirty="0"/>
              <a:t>BinaryStorage</a:t>
            </a:r>
            <a:r>
              <a:rPr lang="en-US" dirty="0"/>
              <a:t> is used when files contain bytearray data types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661114-E13E-4C13-B445-13AF8D4CD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2095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E5E54-C80B-4DBF-8BB3-0FDE10B0A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455442" cy="1325563"/>
          </a:xfrm>
        </p:spPr>
        <p:txBody>
          <a:bodyPr>
            <a:normAutofit/>
          </a:bodyPr>
          <a:lstStyle/>
          <a:p>
            <a:r>
              <a:rPr lang="en-US" dirty="0"/>
              <a:t>Additional Considerations (cont.)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6B8472-77EA-48E2-8A32-9673E9E057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10455442" cy="4613012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Pig Latin is a data flow language; each processing step results in a new relation; when running </a:t>
            </a:r>
            <a:r>
              <a:rPr lang="en-US" b="1" i="1" dirty="0"/>
              <a:t>emp = LOAD 'data’;</a:t>
            </a:r>
            <a:r>
              <a:rPr lang="en-US" dirty="0"/>
              <a:t>,</a:t>
            </a:r>
            <a:r>
              <a:rPr lang="en-US" b="1" i="1" dirty="0"/>
              <a:t> emp</a:t>
            </a:r>
            <a:r>
              <a:rPr lang="en-US" dirty="0"/>
              <a:t> is the name of the relation resulting from loading the data</a:t>
            </a:r>
          </a:p>
          <a:p>
            <a:pPr>
              <a:lnSpc>
                <a:spcPct val="100000"/>
              </a:lnSpc>
            </a:pPr>
            <a:r>
              <a:rPr lang="en-US" dirty="0"/>
              <a:t>Pig Latin also has field names. When using: </a:t>
            </a:r>
            <a:r>
              <a:rPr lang="en-US" b="1" i="1" dirty="0"/>
              <a:t>emp = LOAD 'EmployeePT' AS (ID, name, page, time); </a:t>
            </a:r>
            <a:r>
              <a:rPr lang="en-US" dirty="0"/>
              <a:t>you rename the fields as written</a:t>
            </a:r>
          </a:p>
          <a:p>
            <a:pPr>
              <a:lnSpc>
                <a:spcPct val="100000"/>
              </a:lnSpc>
            </a:pPr>
            <a:r>
              <a:rPr lang="en-US" dirty="0"/>
              <a:t>Field and relation names must start with an alphabetic character and are case-sensitive</a:t>
            </a:r>
          </a:p>
          <a:p>
            <a:pPr>
              <a:lnSpc>
                <a:spcPct val="100000"/>
              </a:lnSpc>
            </a:pPr>
            <a:r>
              <a:rPr lang="en-US" dirty="0"/>
              <a:t>Pig Latin keywords are not case-sensitive, thus </a:t>
            </a:r>
            <a:r>
              <a:rPr lang="en-US" b="1" i="1" dirty="0"/>
              <a:t>DUMP</a:t>
            </a:r>
            <a:r>
              <a:rPr lang="en-US" dirty="0"/>
              <a:t>, </a:t>
            </a:r>
            <a:r>
              <a:rPr lang="en-US" b="1" i="1" dirty="0"/>
              <a:t>Dump</a:t>
            </a:r>
            <a:r>
              <a:rPr lang="en-US" dirty="0"/>
              <a:t>, and </a:t>
            </a:r>
            <a:r>
              <a:rPr lang="en-US" b="1" i="1" dirty="0"/>
              <a:t>dump</a:t>
            </a:r>
            <a:r>
              <a:rPr lang="en-US" dirty="0"/>
              <a:t> are the same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661114-E13E-4C13-B445-13AF8D4CD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0718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E5E54-C80B-4DBF-8BB3-0FDE10B0A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455442" cy="1325563"/>
          </a:xfrm>
        </p:spPr>
        <p:txBody>
          <a:bodyPr>
            <a:normAutofit/>
          </a:bodyPr>
          <a:lstStyle/>
          <a:p>
            <a:r>
              <a:rPr lang="en-US" dirty="0"/>
              <a:t>Additional Considerations (cont.)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6B8472-77EA-48E2-8A32-9673E9E057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10455442" cy="461301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You can reuse relation names, but it is not recommended</a:t>
            </a:r>
          </a:p>
          <a:p>
            <a:pPr lvl="1"/>
            <a:r>
              <a:rPr lang="en-US" dirty="0"/>
              <a:t>Example: the following code is allowed but leads to confusion, such as being unclear regarding which </a:t>
            </a:r>
            <a:r>
              <a:rPr lang="en-US" b="1" i="1" dirty="0"/>
              <a:t>emp</a:t>
            </a:r>
            <a:r>
              <a:rPr lang="en-US" dirty="0"/>
              <a:t> is involved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661114-E13E-4C13-B445-13AF8D4CD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6" name="Text Box 1">
            <a:extLst>
              <a:ext uri="{FF2B5EF4-FFF2-40B4-BE49-F238E27FC236}">
                <a16:creationId xmlns:a16="http://schemas.microsoft.com/office/drawing/2014/main" id="{F95C0646-7799-48BB-B196-6D2625FA0C14}"/>
              </a:ext>
            </a:extLst>
          </p:cNvPr>
          <p:cNvSpPr txBox="1"/>
          <p:nvPr/>
        </p:nvSpPr>
        <p:spPr>
          <a:xfrm>
            <a:off x="1468582" y="3710623"/>
            <a:ext cx="9504218" cy="1231106"/>
          </a:xfrm>
          <a:prstGeom prst="rect">
            <a:avLst/>
          </a:prstGeom>
          <a:solidFill>
            <a:srgbClr val="C6D9F1"/>
          </a:solidFill>
          <a:ln w="6350">
            <a:solidFill>
              <a:srgbClr val="000000"/>
            </a:solidFill>
          </a:ln>
        </p:spPr>
        <p:txBody>
          <a:bodyPr rot="0" spcFirstLastPara="0" vert="horz" wrap="square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fontAlgn="base" hangingPunct="0">
              <a:spcBef>
                <a:spcPts val="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emp = LOAD 'EmployeePT' AS (ID, name, page, time);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fontAlgn="base" hangingPunct="0">
              <a:spcBef>
                <a:spcPts val="120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emp = FILTER emp BY time &gt; 5;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fontAlgn="base" hangingPunct="0">
              <a:spcBef>
                <a:spcPts val="1200"/>
              </a:spcBef>
              <a:spcAft>
                <a:spcPts val="0"/>
              </a:spcAft>
            </a:pPr>
            <a:r>
              <a:rPr lang="en-US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grunt&gt; emp = FOREACH emp GENERATE UPPER(name);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9709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5DC23-E6E6-4606-B6EE-50B52C0A4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and Takeaways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C7C32C-C2FE-4E5E-AB15-D12D0E66C1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Pig is another platform for analyzing Big Data</a:t>
            </a:r>
          </a:p>
          <a:p>
            <a:r>
              <a:rPr lang="en-US" dirty="0"/>
              <a:t>Pig commands are written in a query-based language known as Pig Latin</a:t>
            </a:r>
          </a:p>
          <a:p>
            <a:r>
              <a:rPr lang="en-US" dirty="0"/>
              <a:t>Pig scripts are easier and faster to write than standard MapReduce jobs</a:t>
            </a:r>
          </a:p>
          <a:p>
            <a:r>
              <a:rPr lang="en-US" dirty="0"/>
              <a:t>The execution of Pig commands is slower due to the additional layers required to translate the Pig commands into MapReduce jobs</a:t>
            </a:r>
          </a:p>
          <a:p>
            <a:r>
              <a:rPr lang="en-US" dirty="0"/>
              <a:t>These layers include:</a:t>
            </a:r>
          </a:p>
          <a:p>
            <a:pPr lvl="1"/>
            <a:r>
              <a:rPr lang="en-US" dirty="0"/>
              <a:t>Parser</a:t>
            </a:r>
          </a:p>
          <a:p>
            <a:pPr lvl="1"/>
            <a:r>
              <a:rPr lang="en-US" dirty="0"/>
              <a:t>Optimizer</a:t>
            </a:r>
          </a:p>
          <a:p>
            <a:pPr lvl="1"/>
            <a:r>
              <a:rPr lang="en-US" dirty="0"/>
              <a:t>Compiler</a:t>
            </a:r>
          </a:p>
          <a:p>
            <a:pPr lvl="1"/>
            <a:r>
              <a:rPr lang="en-US" dirty="0"/>
              <a:t>Execution engine</a:t>
            </a:r>
          </a:p>
          <a:p>
            <a:r>
              <a:rPr lang="en-US" dirty="0"/>
              <a:t>Here, Pig Latin commands were executed using the grunt&gt; shell on top of the Hadoop cluster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E8AA48-ABBA-417B-A561-4C286C25C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0643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EC8D3-7A01-47B9-B828-A696879BD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and Takeaways (cont.)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EE1E7C-B598-483B-BC35-CF9DAF505A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sz="2600" dirty="0"/>
              <a:t>There are four basic types of data values in Pig Latin: </a:t>
            </a:r>
          </a:p>
          <a:p>
            <a:pPr lvl="1"/>
            <a:r>
              <a:rPr lang="en-US" dirty="0"/>
              <a:t>Atom</a:t>
            </a:r>
          </a:p>
          <a:p>
            <a:pPr lvl="1"/>
            <a:r>
              <a:rPr lang="en-US" dirty="0"/>
              <a:t>Tuple</a:t>
            </a:r>
          </a:p>
          <a:p>
            <a:pPr lvl="1"/>
            <a:r>
              <a:rPr lang="en-US" dirty="0"/>
              <a:t>Bag</a:t>
            </a:r>
          </a:p>
          <a:p>
            <a:pPr lvl="1"/>
            <a:r>
              <a:rPr lang="en-US" dirty="0"/>
              <a:t>Map</a:t>
            </a:r>
          </a:p>
          <a:p>
            <a:r>
              <a:rPr lang="en-US" sz="2600" dirty="0"/>
              <a:t>The atom values in Pig are stored as: integer, long integer, float, double, chararray, bytearray, or Boolean</a:t>
            </a:r>
          </a:p>
          <a:p>
            <a:pPr>
              <a:lnSpc>
                <a:spcPct val="120000"/>
              </a:lnSpc>
            </a:pPr>
            <a:r>
              <a:rPr lang="en-US" sz="2600" dirty="0"/>
              <a:t>Pig Latin is a data flow language, and each command results in a new relation</a:t>
            </a:r>
          </a:p>
          <a:p>
            <a:pPr>
              <a:lnSpc>
                <a:spcPct val="120000"/>
              </a:lnSpc>
            </a:pPr>
            <a:r>
              <a:rPr lang="en-US" sz="2600" dirty="0"/>
              <a:t>The Pig commands are first written in Pig Latin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Upon execution, they are compiled into MapReduce jobs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F76929-BF86-4B83-8FC4-B73380BCF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05264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C4EF0-7A24-4EA0-A88E-A879787F2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and Takeaways (cont.)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2452D3-C4BE-48C4-9584-55A6C56811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8" y="1572127"/>
            <a:ext cx="10744201" cy="486651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US" sz="3000" dirty="0"/>
              <a:t>Pig:</a:t>
            </a:r>
          </a:p>
          <a:p>
            <a:pPr lvl="1">
              <a:lnSpc>
                <a:spcPct val="120000"/>
              </a:lnSpc>
            </a:pPr>
            <a:r>
              <a:rPr lang="en-US" sz="2600" dirty="0"/>
              <a:t>Works better with structured data files </a:t>
            </a:r>
          </a:p>
          <a:p>
            <a:pPr lvl="1">
              <a:lnSpc>
                <a:spcPct val="120000"/>
              </a:lnSpc>
            </a:pPr>
            <a:r>
              <a:rPr lang="en-US" sz="2600" dirty="0"/>
              <a:t>Should be avoided with unstructured data files</a:t>
            </a:r>
          </a:p>
          <a:p>
            <a:pPr lvl="1">
              <a:lnSpc>
                <a:spcPct val="120000"/>
              </a:lnSpc>
            </a:pPr>
            <a:r>
              <a:rPr lang="en-US" sz="2600" dirty="0"/>
              <a:t>Uses primitive and complex data types</a:t>
            </a:r>
          </a:p>
          <a:p>
            <a:pPr>
              <a:lnSpc>
                <a:spcPct val="120000"/>
              </a:lnSpc>
            </a:pPr>
            <a:r>
              <a:rPr lang="en-US" sz="3000" dirty="0"/>
              <a:t>Pig commands can be executed in:</a:t>
            </a:r>
          </a:p>
          <a:p>
            <a:pPr lvl="1">
              <a:lnSpc>
                <a:spcPct val="120000"/>
              </a:lnSpc>
            </a:pPr>
            <a:r>
              <a:rPr lang="en-US" sz="2600" dirty="0"/>
              <a:t>Local mode</a:t>
            </a:r>
          </a:p>
          <a:p>
            <a:pPr lvl="1">
              <a:lnSpc>
                <a:spcPct val="120000"/>
              </a:lnSpc>
            </a:pPr>
            <a:r>
              <a:rPr lang="en-US" sz="2600" dirty="0"/>
              <a:t>MapReduce mode</a:t>
            </a:r>
          </a:p>
          <a:p>
            <a:pPr>
              <a:lnSpc>
                <a:spcPct val="120000"/>
              </a:lnSpc>
            </a:pPr>
            <a:r>
              <a:rPr lang="en-US" sz="3000" dirty="0"/>
              <a:t>Pig operators are used to load, transform, display, and store records and allow for complex data processing operations</a:t>
            </a:r>
          </a:p>
          <a:p>
            <a:pPr>
              <a:lnSpc>
                <a:spcPct val="120000"/>
              </a:lnSpc>
            </a:pP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207B06-6834-4435-8916-17F7A2785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72F39-BFF9-4E74-AA69-57E4EE92C636}" type="slidenum">
              <a:rPr lang="en-US" smtClean="0"/>
              <a:pPr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07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3E97CE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Custom 2">
      <a:dk1>
        <a:srgbClr val="3E97CE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1001</TotalTime>
  <Words>3935</Words>
  <Application>Microsoft Macintosh PowerPoint</Application>
  <PresentationFormat>Widescreen</PresentationFormat>
  <Paragraphs>609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55</vt:i4>
      </vt:variant>
    </vt:vector>
  </HeadingPairs>
  <TitlesOfParts>
    <vt:vector size="62" baseType="lpstr">
      <vt:lpstr>Arial</vt:lpstr>
      <vt:lpstr>Calibri</vt:lpstr>
      <vt:lpstr>Courier New</vt:lpstr>
      <vt:lpstr>Times New Roman</vt:lpstr>
      <vt:lpstr>Wingdings</vt:lpstr>
      <vt:lpstr>Office Theme</vt:lpstr>
      <vt:lpstr>Custom Design</vt:lpstr>
      <vt:lpstr>Chapter 5</vt:lpstr>
      <vt:lpstr>Big Data Application: LinkedIn</vt:lpstr>
      <vt:lpstr>Introduction</vt:lpstr>
      <vt:lpstr>Chapter Objectives:</vt:lpstr>
      <vt:lpstr>Pig vs. MapReduce</vt:lpstr>
      <vt:lpstr>Pig vs. MapReduce (cont.)</vt:lpstr>
      <vt:lpstr>PowerPoint Presentation</vt:lpstr>
      <vt:lpstr>Pig Components and the Execution Modes</vt:lpstr>
      <vt:lpstr>Pig Components and the Execution Modes (cont.)</vt:lpstr>
      <vt:lpstr>Pig Components and the Execution Modes (cont.)</vt:lpstr>
      <vt:lpstr>Pig Latin Data Types</vt:lpstr>
      <vt:lpstr>Pig Latin Data Type: Atom</vt:lpstr>
      <vt:lpstr>PowerPoint Presentation</vt:lpstr>
      <vt:lpstr>Pig Latin Data Type: Tuple</vt:lpstr>
      <vt:lpstr>Pig Latin Data Type: Bag</vt:lpstr>
      <vt:lpstr>Pig Latin Data Type: Map</vt:lpstr>
      <vt:lpstr>PowerPoint Presentation</vt:lpstr>
      <vt:lpstr>Tutorial A: Website Visitors</vt:lpstr>
      <vt:lpstr>PowerPoint Presentation</vt:lpstr>
      <vt:lpstr>Tutorial A: Creating Directories</vt:lpstr>
      <vt:lpstr>Tutorial A: Load Files</vt:lpstr>
      <vt:lpstr>Tutorial A: Load Files (cont.)</vt:lpstr>
      <vt:lpstr>Tutorial A: Storage Functions</vt:lpstr>
      <vt:lpstr>Tutorial A: Join Bags</vt:lpstr>
      <vt:lpstr>Tutorial A: Group Records</vt:lpstr>
      <vt:lpstr>Tutorial A: Calculate Average Rank</vt:lpstr>
      <vt:lpstr>Tutorial A: Filter Records</vt:lpstr>
      <vt:lpstr>Tutorial A: Store Results</vt:lpstr>
      <vt:lpstr>PowerPoint Presentation</vt:lpstr>
      <vt:lpstr>Tutorial B: Fast-Food Employees</vt:lpstr>
      <vt:lpstr>PowerPoint Presentation</vt:lpstr>
      <vt:lpstr>Tutorial B: Create Directories, Move Files in HDFS, Invoke grunt&gt; </vt:lpstr>
      <vt:lpstr>Tutorial B: Load Files</vt:lpstr>
      <vt:lpstr>Tutorial B: Diagnostic Operators</vt:lpstr>
      <vt:lpstr>Tutorial B: Group Records</vt:lpstr>
      <vt:lpstr>Tutorial B: Cogroup Records</vt:lpstr>
      <vt:lpstr>Tutorial B: Union Records</vt:lpstr>
      <vt:lpstr>Tutorial B: Order Results</vt:lpstr>
      <vt:lpstr>Tutorial B: Limit Records and Store </vt:lpstr>
      <vt:lpstr>Tutorial B: List Results in HDFS</vt:lpstr>
      <vt:lpstr>PowerPoint Presentation</vt:lpstr>
      <vt:lpstr>Tutorial C: The WordCount Problem</vt:lpstr>
      <vt:lpstr>Tutorial C: Create Directories and Upload Files in HDFS</vt:lpstr>
      <vt:lpstr>Tutorial C: Load File</vt:lpstr>
      <vt:lpstr>Tutorial C: Create Bags of Words</vt:lpstr>
      <vt:lpstr>Tutorial C: Group Words</vt:lpstr>
      <vt:lpstr>Tutorial C: Count Frequency and Sort the Results</vt:lpstr>
      <vt:lpstr>Tutorial C: Store and Display in HDFS</vt:lpstr>
      <vt:lpstr>PowerPoint Presentation</vt:lpstr>
      <vt:lpstr>Additional Considerations When Using Pig and Pig Latin</vt:lpstr>
      <vt:lpstr>Additional Considerations (cont.)</vt:lpstr>
      <vt:lpstr>Additional Considerations (cont.)</vt:lpstr>
      <vt:lpstr>Summary and Takeaways</vt:lpstr>
      <vt:lpstr>Summary and Takeaways (cont.)</vt:lpstr>
      <vt:lpstr>Summary and Takeaways (cont.)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- 10</dc:title>
  <dc:creator>Kristjan Pashollari</dc:creator>
  <cp:lastModifiedBy>Asllani, Beni</cp:lastModifiedBy>
  <cp:revision>67</cp:revision>
  <dcterms:created xsi:type="dcterms:W3CDTF">2020-10-07T21:17:55Z</dcterms:created>
  <dcterms:modified xsi:type="dcterms:W3CDTF">2021-02-27T21:20:40Z</dcterms:modified>
</cp:coreProperties>
</file>