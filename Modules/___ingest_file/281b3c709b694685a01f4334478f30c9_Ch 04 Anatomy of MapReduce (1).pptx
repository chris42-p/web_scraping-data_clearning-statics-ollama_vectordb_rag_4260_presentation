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6"/>
  </p:notesMasterIdLst>
  <p:sldIdLst>
    <p:sldId id="261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1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3" r:id="rId29"/>
    <p:sldId id="294" r:id="rId30"/>
    <p:sldId id="296" r:id="rId31"/>
    <p:sldId id="297" r:id="rId32"/>
    <p:sldId id="298" r:id="rId33"/>
    <p:sldId id="299" r:id="rId34"/>
    <p:sldId id="300" r:id="rId35"/>
    <p:sldId id="301" r:id="rId36"/>
    <p:sldId id="304" r:id="rId37"/>
    <p:sldId id="305" r:id="rId38"/>
    <p:sldId id="306" r:id="rId39"/>
    <p:sldId id="307" r:id="rId40"/>
    <p:sldId id="308" r:id="rId41"/>
    <p:sldId id="310" r:id="rId42"/>
    <p:sldId id="311" r:id="rId43"/>
    <p:sldId id="312" r:id="rId44"/>
    <p:sldId id="313" r:id="rId45"/>
    <p:sldId id="314" r:id="rId46"/>
    <p:sldId id="315" r:id="rId47"/>
    <p:sldId id="316" r:id="rId48"/>
    <p:sldId id="317" r:id="rId49"/>
    <p:sldId id="318" r:id="rId50"/>
    <p:sldId id="319" r:id="rId51"/>
    <p:sldId id="320" r:id="rId52"/>
    <p:sldId id="321" r:id="rId53"/>
    <p:sldId id="322" r:id="rId54"/>
    <p:sldId id="323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rl Quesnel" initials="CQ" lastIdx="7" clrIdx="0">
    <p:extLst>
      <p:ext uri="{19B8F6BF-5375-455C-9EA6-DF929625EA0E}">
        <p15:presenceInfo xmlns:p15="http://schemas.microsoft.com/office/powerpoint/2012/main" userId="67f343fd801ba69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C711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75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7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commentAuthors" Target="commentAuthor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0D196-809C-4717-95BB-AE358DE334D6}" type="datetimeFigureOut">
              <a:rPr lang="en-US" smtClean="0"/>
              <a:t>3/21/21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6C655-BBB6-431D-8175-ADE87A523D1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541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9E56E-4329-41AB-B5FB-C378829D7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27333-F4B5-4994-AA61-FB347228E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Click to edit </a:t>
            </a:r>
            <a:r>
              <a:rPr lang="en-US"/>
              <a:t>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DCDE8-87B0-4B26-B5CA-2FB0A1D6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D37D-8A13-4F5A-9123-DC1227D13A67}" type="datetime1">
              <a:rPr lang="en-US" smtClean="0"/>
              <a:t>3/21/21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9BBA5-C4C8-4D9E-A690-9F77C92C5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A639B-4CD5-4590-8DC6-7CE90A2B1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667B5-7361-4947-AC4E-6739B4EFA9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277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B841-90FB-49E9-9A1A-4E7F024D6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08497-F316-4F87-B8DE-8638F9D3B3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D4FD7-37AF-45F5-BB13-A55F3DC4E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2624" y="6438637"/>
            <a:ext cx="2743200" cy="374463"/>
          </a:xfrm>
        </p:spPr>
        <p:txBody>
          <a:bodyPr/>
          <a:lstStyle>
            <a:lvl1pPr>
              <a:defRPr baseline="0">
                <a:solidFill>
                  <a:srgbClr val="E4C711"/>
                </a:solidFill>
              </a:defRPr>
            </a:lvl1pPr>
          </a:lstStyle>
          <a:p>
            <a:fld id="{C2072F39-BFF9-4E74-AA69-57E4EE92C63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D45A347-4816-4EC2-8EDB-59CBA302CDB3}"/>
              </a:ext>
            </a:extLst>
          </p:cNvPr>
          <p:cNvSpPr txBox="1">
            <a:spLocks/>
          </p:cNvSpPr>
          <p:nvPr userDrawn="1"/>
        </p:nvSpPr>
        <p:spPr>
          <a:xfrm>
            <a:off x="2075329" y="6428869"/>
            <a:ext cx="143883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 baseline="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E4C711"/>
                </a:solidFill>
              </a:rPr>
              <a:t>Chapter - 4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6DDA5-47C0-4378-AA87-421A6908665C}"/>
              </a:ext>
            </a:extLst>
          </p:cNvPr>
          <p:cNvSpPr txBox="1">
            <a:spLocks/>
          </p:cNvSpPr>
          <p:nvPr userDrawn="1"/>
        </p:nvSpPr>
        <p:spPr>
          <a:xfrm>
            <a:off x="3702423" y="6428868"/>
            <a:ext cx="452717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 baseline="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E4C711"/>
                </a:solidFill>
              </a:rPr>
              <a:t>Anatomy of MapReduce</a:t>
            </a:r>
          </a:p>
        </p:txBody>
      </p:sp>
    </p:spTree>
    <p:extLst>
      <p:ext uri="{BB962C8B-B14F-4D97-AF65-F5344CB8AC3E}">
        <p14:creationId xmlns:p14="http://schemas.microsoft.com/office/powerpoint/2010/main" val="427373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8FFE0-57E6-4565-A357-2BC387F1F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97F79-F4F4-4817-813B-C56C30B5C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7718" y="1825625"/>
            <a:ext cx="5186081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5212976" cy="4351338"/>
          </a:xfrm>
        </p:spPr>
        <p:txBody>
          <a:bodyPr/>
          <a:lstStyle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54ED114-1029-4EBF-980F-5A3A0976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2624" y="6438637"/>
            <a:ext cx="2743200" cy="374463"/>
          </a:xfrm>
        </p:spPr>
        <p:txBody>
          <a:bodyPr/>
          <a:lstStyle>
            <a:lvl1pPr>
              <a:defRPr baseline="0">
                <a:solidFill>
                  <a:srgbClr val="E4C711"/>
                </a:solidFill>
              </a:defRPr>
            </a:lvl1pPr>
          </a:lstStyle>
          <a:p>
            <a:fld id="{C2072F39-BFF9-4E74-AA69-57E4EE92C63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D0AD00A-2068-464B-B499-10385B34E106}"/>
              </a:ext>
            </a:extLst>
          </p:cNvPr>
          <p:cNvSpPr txBox="1">
            <a:spLocks/>
          </p:cNvSpPr>
          <p:nvPr userDrawn="1"/>
        </p:nvSpPr>
        <p:spPr>
          <a:xfrm>
            <a:off x="2075329" y="6428869"/>
            <a:ext cx="143883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 baseline="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E4C711"/>
                </a:solidFill>
              </a:rPr>
              <a:t>Chapter - 4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5C3D479-2D88-46ED-9A76-D3C883D1AF21}"/>
              </a:ext>
            </a:extLst>
          </p:cNvPr>
          <p:cNvSpPr txBox="1">
            <a:spLocks/>
          </p:cNvSpPr>
          <p:nvPr userDrawn="1"/>
        </p:nvSpPr>
        <p:spPr>
          <a:xfrm>
            <a:off x="3702423" y="6428868"/>
            <a:ext cx="452717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 baseline="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E4C711"/>
                </a:solidFill>
              </a:rPr>
              <a:t>Anatomy of MapReduce</a:t>
            </a:r>
          </a:p>
        </p:txBody>
      </p:sp>
    </p:spTree>
    <p:extLst>
      <p:ext uri="{BB962C8B-B14F-4D97-AF65-F5344CB8AC3E}">
        <p14:creationId xmlns:p14="http://schemas.microsoft.com/office/powerpoint/2010/main" val="2482829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F11-A162-450C-979B-CBB4AF2A2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60CA1-9CC6-4878-8BFE-C1A9FF325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0FA79FF-B815-48FB-8F11-5A3DFC9B1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2624" y="6438637"/>
            <a:ext cx="2743200" cy="374463"/>
          </a:xfrm>
        </p:spPr>
        <p:txBody>
          <a:bodyPr/>
          <a:lstStyle>
            <a:lvl1pPr>
              <a:defRPr baseline="0">
                <a:solidFill>
                  <a:srgbClr val="E4C711"/>
                </a:solidFill>
              </a:defRPr>
            </a:lvl1pPr>
          </a:lstStyle>
          <a:p>
            <a:fld id="{C2072F39-BFF9-4E74-AA69-57E4EE92C63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B2AE16E-B2E1-4E67-B7FF-C8FC686F7658}"/>
              </a:ext>
            </a:extLst>
          </p:cNvPr>
          <p:cNvSpPr txBox="1">
            <a:spLocks/>
          </p:cNvSpPr>
          <p:nvPr userDrawn="1"/>
        </p:nvSpPr>
        <p:spPr>
          <a:xfrm>
            <a:off x="2075329" y="6428869"/>
            <a:ext cx="143883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 baseline="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E4C711"/>
                </a:solidFill>
              </a:rPr>
              <a:t>Chapter - 4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22DCA-B7F0-4218-9850-D6F558D5D007}"/>
              </a:ext>
            </a:extLst>
          </p:cNvPr>
          <p:cNvSpPr txBox="1">
            <a:spLocks/>
          </p:cNvSpPr>
          <p:nvPr userDrawn="1"/>
        </p:nvSpPr>
        <p:spPr>
          <a:xfrm>
            <a:off x="3702423" y="6428868"/>
            <a:ext cx="452717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 baseline="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E4C711"/>
                </a:solidFill>
              </a:rPr>
              <a:t>Anatomy of MapReduce</a:t>
            </a:r>
          </a:p>
        </p:txBody>
      </p:sp>
    </p:spTree>
    <p:extLst>
      <p:ext uri="{BB962C8B-B14F-4D97-AF65-F5344CB8AC3E}">
        <p14:creationId xmlns:p14="http://schemas.microsoft.com/office/powerpoint/2010/main" val="1068499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49F13C-23D4-4505-9039-C8F724F78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3500"/>
            <a:ext cx="44005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Chapter - 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0047F-BE9E-4A1A-8AA1-BA8406814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790825"/>
            <a:ext cx="4400550" cy="2733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Here comes the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CD87E-6238-46FB-B7B6-F36F6B7E1C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5B42A-6D70-4C3D-88A4-D20C45EC742A}" type="datetime1">
              <a:rPr lang="en-US" smtClean="0"/>
              <a:t>3/21/21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1BB4A-1AEA-47AB-A7E4-046C3E0F97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A3451-7277-4002-A1B8-E97C3C81F3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667B5-7361-4947-AC4E-6739B4EFA9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965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7FE1A4-3E9B-4C5E-B296-A5D7334DD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B9687-B325-4684-953F-61BC96E57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B114B-7090-423F-8C2B-BEF75E46D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501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 i="0" baseline="0">
                <a:solidFill>
                  <a:srgbClr val="FFC000"/>
                </a:solidFill>
              </a:defRPr>
            </a:lvl1pPr>
          </a:lstStyle>
          <a:p>
            <a:fld id="{C2072F39-BFF9-4E74-AA69-57E4EE92C636}" type="slidenum">
              <a:rPr lang="en-US" smtClean="0"/>
              <a:pPr/>
              <a:t>‹#›</a:t>
            </a:fld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C57A98F-61CE-4BAB-ABC4-68DD72A71E0B}"/>
              </a:ext>
            </a:extLst>
          </p:cNvPr>
          <p:cNvSpPr txBox="1">
            <a:spLocks/>
          </p:cNvSpPr>
          <p:nvPr userDrawn="1"/>
        </p:nvSpPr>
        <p:spPr>
          <a:xfrm>
            <a:off x="2075329" y="6428869"/>
            <a:ext cx="143883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 baseline="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E4C711"/>
                </a:solidFill>
              </a:rPr>
              <a:t>Chapter - 4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AD7DD9A-8E9B-4A52-8A00-D61FED2B7B3B}"/>
              </a:ext>
            </a:extLst>
          </p:cNvPr>
          <p:cNvSpPr txBox="1">
            <a:spLocks/>
          </p:cNvSpPr>
          <p:nvPr userDrawn="1"/>
        </p:nvSpPr>
        <p:spPr>
          <a:xfrm>
            <a:off x="3702423" y="6428868"/>
            <a:ext cx="452717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 baseline="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E4C711"/>
                </a:solidFill>
              </a:rPr>
              <a:t>Anatomy of MapReduce</a:t>
            </a:r>
          </a:p>
        </p:txBody>
      </p:sp>
    </p:spTree>
    <p:extLst>
      <p:ext uri="{BB962C8B-B14F-4D97-AF65-F5344CB8AC3E}">
        <p14:creationId xmlns:p14="http://schemas.microsoft.com/office/powerpoint/2010/main" val="216585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44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clipse.org/downloads/" TargetMode="Externa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sourceforge.net/projects/pyscripter/" TargetMode="Externa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Anatomy of MapReduce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667B5-7361-4947-AC4E-6739B4EFA95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755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60BE0-B450-434B-A497-A026C0BCF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Big Data Application: Social Media Influencers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9873DF-7429-4308-861A-94F2099DD8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825625"/>
            <a:ext cx="11209421" cy="449496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Social media giants</a:t>
            </a:r>
          </a:p>
          <a:p>
            <a:pPr lvl="1"/>
            <a:r>
              <a:rPr lang="en-US" dirty="0"/>
              <a:t>Use influencers in their networks to boost collaborations between brands and influencers</a:t>
            </a:r>
          </a:p>
          <a:p>
            <a:pPr lvl="1"/>
            <a:r>
              <a:rPr lang="en-US" dirty="0"/>
              <a:t>Include Twitter, Facebook, Instagram, and LinkedIn</a:t>
            </a:r>
          </a:p>
          <a:p>
            <a:r>
              <a:rPr lang="en-US" dirty="0"/>
              <a:t>This marketing approach =&gt; influencer marketing</a:t>
            </a:r>
          </a:p>
          <a:p>
            <a:r>
              <a:rPr lang="en-US" dirty="0"/>
              <a:t>Identifying the influencers among the large number of network members:</a:t>
            </a:r>
          </a:p>
          <a:p>
            <a:pPr lvl="1"/>
            <a:r>
              <a:rPr lang="en-US" dirty="0"/>
              <a:t>Requires processing a massive amount of data </a:t>
            </a:r>
          </a:p>
          <a:p>
            <a:pPr lvl="1"/>
            <a:r>
              <a:rPr lang="en-US" dirty="0"/>
              <a:t>MapReduce is the weapon of choice</a:t>
            </a:r>
          </a:p>
          <a:p>
            <a:r>
              <a:rPr lang="en-US" dirty="0"/>
              <a:t>Researchers form Hiroshima University:</a:t>
            </a:r>
          </a:p>
          <a:p>
            <a:pPr lvl="1"/>
            <a:r>
              <a:rPr lang="en-US" dirty="0"/>
              <a:t>Developed an efficient and scalable algorithm that uses a MapReduce framework</a:t>
            </a:r>
          </a:p>
          <a:p>
            <a:pPr lvl="1"/>
            <a:r>
              <a:rPr lang="en-US" dirty="0"/>
              <a:t>Analyzes: </a:t>
            </a:r>
          </a:p>
          <a:p>
            <a:pPr lvl="2"/>
            <a:r>
              <a:rPr lang="en-US" dirty="0"/>
              <a:t>The number of friends that a person has in a social network, the number of followers, the average number of  "likes," the positive and negative comment replies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4CB40-8059-4067-B528-8EA729BC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633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BB6CD-40FB-44A8-B2DA-BB040052C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02460-1CB0-41B9-A4E1-5904BE33DF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dirty="0"/>
              <a:t>Two components of Hadoop:</a:t>
            </a:r>
          </a:p>
          <a:p>
            <a:pPr lvl="1"/>
            <a:r>
              <a:rPr lang="en-US" dirty="0"/>
              <a:t>Distributed file system (storage component):</a:t>
            </a:r>
          </a:p>
          <a:p>
            <a:pPr lvl="2"/>
            <a:r>
              <a:rPr lang="en-US" dirty="0"/>
              <a:t>Distributes input data and files across nodes</a:t>
            </a:r>
          </a:p>
          <a:p>
            <a:pPr lvl="2"/>
            <a:r>
              <a:rPr lang="en-US" dirty="0"/>
              <a:t>Creates redundancy</a:t>
            </a:r>
          </a:p>
          <a:p>
            <a:pPr lvl="2"/>
            <a:r>
              <a:rPr lang="en-US" dirty="0"/>
              <a:t>Improves data and system reliability</a:t>
            </a:r>
          </a:p>
          <a:p>
            <a:pPr lvl="2"/>
            <a:r>
              <a:rPr lang="en-US" dirty="0"/>
              <a:t>Tracks the location of data among data nodes</a:t>
            </a:r>
          </a:p>
          <a:p>
            <a:pPr lvl="1"/>
            <a:r>
              <a:rPr lang="en-US" dirty="0"/>
              <a:t>MapReduce (processing component):</a:t>
            </a:r>
          </a:p>
          <a:p>
            <a:pPr lvl="2"/>
            <a:r>
              <a:rPr lang="en-US" dirty="0"/>
              <a:t>Uses JobTracker and TaskTrackers</a:t>
            </a:r>
          </a:p>
          <a:p>
            <a:pPr lvl="2"/>
            <a:r>
              <a:rPr lang="en-US" dirty="0"/>
              <a:t>Generates tasks from the main algorithms and distributes those tasks across nodes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8BEF0C-C2AC-4439-B6D8-2ED4006F3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493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BD399-75B8-42E8-9DA1-FEBCDA610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(cont.)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42B8A-77B6-4ABF-86A4-34E308BAD4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Traditional paradigms:</a:t>
            </a:r>
          </a:p>
          <a:p>
            <a:pPr lvl="1"/>
            <a:r>
              <a:rPr lang="en-US" dirty="0"/>
              <a:t>Transfer the data to one location</a:t>
            </a:r>
          </a:p>
          <a:p>
            <a:r>
              <a:rPr lang="en-US" dirty="0"/>
              <a:t>Big data: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algorithm</a:t>
            </a:r>
            <a:r>
              <a:rPr lang="en-US" dirty="0"/>
              <a:t> (</a:t>
            </a:r>
            <a:r>
              <a:rPr lang="en-US" i="1" dirty="0"/>
              <a:t>not the data</a:t>
            </a:r>
            <a:r>
              <a:rPr lang="en-US" dirty="0"/>
              <a:t>) travels through the network to the DataNodes to perform the data processing tasks</a:t>
            </a:r>
          </a:p>
          <a:p>
            <a:pPr lvl="1"/>
            <a:r>
              <a:rPr lang="en-US" dirty="0"/>
              <a:t>This process is called </a:t>
            </a:r>
            <a:r>
              <a:rPr lang="en-US" i="1" dirty="0"/>
              <a:t>mapping</a:t>
            </a:r>
          </a:p>
          <a:p>
            <a:pPr lvl="1"/>
            <a:r>
              <a:rPr lang="en-US" dirty="0"/>
              <a:t>A second stage, </a:t>
            </a:r>
            <a:r>
              <a:rPr lang="en-US" i="1" dirty="0"/>
              <a:t>reducing</a:t>
            </a:r>
            <a:r>
              <a:rPr lang="en-US" dirty="0"/>
              <a:t>, is performed to complete the algorithm</a:t>
            </a:r>
          </a:p>
          <a:p>
            <a:pPr lvl="1"/>
            <a:r>
              <a:rPr lang="en-US" dirty="0"/>
              <a:t>The results from the </a:t>
            </a:r>
            <a:r>
              <a:rPr lang="en-US" i="1" dirty="0"/>
              <a:t>mapping</a:t>
            </a:r>
            <a:r>
              <a:rPr lang="en-US" dirty="0"/>
              <a:t> generated in each DataNode:</a:t>
            </a:r>
          </a:p>
          <a:p>
            <a:pPr lvl="2"/>
            <a:r>
              <a:rPr lang="en-US" dirty="0"/>
              <a:t>Aggregated via the </a:t>
            </a:r>
            <a:r>
              <a:rPr lang="en-US" i="1" dirty="0"/>
              <a:t>reducing</a:t>
            </a:r>
            <a:r>
              <a:rPr lang="en-US" dirty="0"/>
              <a:t> stage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48B0A0-F09C-486D-979F-6970F5A4B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706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ADB03-3CA7-4214-8E02-61A8925F3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Objectives: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B1FB72-096D-4914-9482-413847189F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Understand the concepts behind the MapReduce paradigm</a:t>
            </a:r>
          </a:p>
          <a:p>
            <a:r>
              <a:rPr lang="en-US" dirty="0"/>
              <a:t>Describe the components of MapReduce, such as the mapper, combiner, and reducer</a:t>
            </a:r>
          </a:p>
          <a:p>
            <a:r>
              <a:rPr lang="en-US" dirty="0"/>
              <a:t>Explore various MapReduce patterns and examples</a:t>
            </a:r>
          </a:p>
          <a:p>
            <a:r>
              <a:rPr lang="en-US" dirty="0"/>
              <a:t>Execute MapReduce jobs in a Hadoop cluster using either Java or Python</a:t>
            </a:r>
          </a:p>
          <a:p>
            <a:r>
              <a:rPr lang="en-US" dirty="0"/>
              <a:t>Explore several data processing problems that can utilize MapReduce algorithms</a:t>
            </a:r>
          </a:p>
          <a:p>
            <a:r>
              <a:rPr lang="en-US" dirty="0"/>
              <a:t>Modify existing MapReduce algorithms to perform new data processing problems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2938B7-8FE3-42DC-881B-FD787B154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078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B46A3-FA53-487F-81FA-CBA0FEABC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MapReduce Concept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13E062-C395-4DA9-AFFB-A6663C6909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Enable massive scalability when processing large amounts of data and records</a:t>
            </a:r>
          </a:p>
          <a:p>
            <a:r>
              <a:rPr lang="en-US" dirty="0"/>
              <a:t>Allow millions or billions of records to be spread across commodity servers in a Hadoop cluster</a:t>
            </a:r>
          </a:p>
          <a:p>
            <a:r>
              <a:rPr lang="en-US" dirty="0"/>
              <a:t>Main idea, like in Roman times:</a:t>
            </a:r>
          </a:p>
          <a:p>
            <a:pPr lvl="1"/>
            <a:r>
              <a:rPr lang="en-US" dirty="0"/>
              <a:t>Each census taker in each city would be tasked to count the number of people in that city and then return their results to the capital city</a:t>
            </a:r>
          </a:p>
          <a:p>
            <a:pPr lvl="1"/>
            <a:r>
              <a:rPr lang="en-US" dirty="0"/>
              <a:t>The results from each city would be reduced to a single count (sum of all cities) to determine the overall population of the empire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729FA-4253-4F41-A214-7B20DAEE5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897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808FD-8F52-42FB-96CE-EE0E74A4F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Main Components of MapReduce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36F4E3-2AD9-48B0-94C1-8DF6AF75B9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Two stages:</a:t>
            </a:r>
          </a:p>
          <a:p>
            <a:pPr lvl="1"/>
            <a:r>
              <a:rPr lang="en-US" dirty="0"/>
              <a:t>Mapper</a:t>
            </a:r>
          </a:p>
          <a:p>
            <a:pPr lvl="1"/>
            <a:r>
              <a:rPr lang="en-US" dirty="0"/>
              <a:t>Reducer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7DB183-37A6-4BE4-8951-B9BAB31C3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753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B1DA3-D3CD-46C3-81E4-3A6FB9133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36E464-604F-4E94-BDCA-73F1032011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dirty="0"/>
              <a:t>Reads and processes a set of data</a:t>
            </a:r>
          </a:p>
          <a:p>
            <a:r>
              <a:rPr lang="en-US" dirty="0"/>
              <a:t>Converts it into another set of data</a:t>
            </a:r>
          </a:p>
          <a:p>
            <a:r>
              <a:rPr lang="en-US" dirty="0"/>
              <a:t>Both input and output data consist of a set of rows or records:</a:t>
            </a:r>
          </a:p>
          <a:p>
            <a:pPr lvl="1"/>
            <a:r>
              <a:rPr lang="en-US" dirty="0"/>
              <a:t>Tuples:</a:t>
            </a:r>
          </a:p>
          <a:p>
            <a:pPr lvl="2"/>
            <a:r>
              <a:rPr lang="en-US" dirty="0"/>
              <a:t>Key</a:t>
            </a:r>
          </a:p>
          <a:p>
            <a:pPr lvl="2"/>
            <a:r>
              <a:rPr lang="en-US" dirty="0"/>
              <a:t>Value</a:t>
            </a:r>
          </a:p>
          <a:p>
            <a:r>
              <a:rPr lang="en-US" dirty="0"/>
              <a:t>Once the map jobs are completed in all data nodes:</a:t>
            </a:r>
          </a:p>
          <a:p>
            <a:pPr lvl="1"/>
            <a:r>
              <a:rPr lang="en-US" dirty="0"/>
              <a:t>Second stage =&gt; the </a:t>
            </a:r>
            <a:r>
              <a:rPr lang="en-US" i="1" dirty="0"/>
              <a:t>reducer</a:t>
            </a:r>
            <a:r>
              <a:rPr lang="en-US" dirty="0"/>
              <a:t> starts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49416B-D1D6-4C61-9BB6-78C477E38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645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E8180-B790-4409-9C6C-BD958E994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3E377-AD74-4A58-A5D8-15592A167A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dirty="0"/>
              <a:t>After the mapper has completed its job in all data nodes</a:t>
            </a:r>
          </a:p>
          <a:p>
            <a:r>
              <a:rPr lang="en-US" dirty="0"/>
              <a:t>Takes the map output as input </a:t>
            </a:r>
          </a:p>
          <a:p>
            <a:r>
              <a:rPr lang="en-US" dirty="0"/>
              <a:t>Aggregates or combines it into the final results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516E26-420C-481F-A895-D949B40EF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731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A78629-1FC0-47C3-930D-450CEE258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040CFC-6E4C-49F7-8392-6EBF2875CFBC}"/>
              </a:ext>
            </a:extLst>
          </p:cNvPr>
          <p:cNvSpPr txBox="1"/>
          <p:nvPr/>
        </p:nvSpPr>
        <p:spPr>
          <a:xfrm>
            <a:off x="6096000" y="587523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4 -1: Logical Model for the MapReduce Algorithm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99D1A9F9-270A-FA4C-B2B6-4C5B767F0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320" y="518982"/>
            <a:ext cx="9437744" cy="542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951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D7C3C-4ACB-442B-A921-BE432041F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Illustration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9EE2F-4F36-44FB-8299-F155CE81A5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Reads the input file in (key, value) format</a:t>
            </a:r>
          </a:p>
          <a:p>
            <a:r>
              <a:rPr lang="en-US" dirty="0"/>
              <a:t>Key: </a:t>
            </a:r>
          </a:p>
          <a:p>
            <a:pPr lvl="1"/>
            <a:r>
              <a:rPr lang="en-US" dirty="0"/>
              <a:t>Byte offset</a:t>
            </a:r>
          </a:p>
          <a:p>
            <a:pPr lvl="1"/>
            <a:r>
              <a:rPr lang="en-US" dirty="0"/>
              <a:t>Integer used to find the absolute address</a:t>
            </a:r>
          </a:p>
          <a:p>
            <a:pPr lvl="1"/>
            <a:r>
              <a:rPr lang="en-US" dirty="0"/>
              <a:t>Byte offset of first line: 0</a:t>
            </a:r>
          </a:p>
          <a:p>
            <a:r>
              <a:rPr lang="en-US" dirty="0"/>
              <a:t>Value:</a:t>
            </a:r>
          </a:p>
          <a:p>
            <a:pPr lvl="1"/>
            <a:r>
              <a:rPr lang="en-US" dirty="0"/>
              <a:t>The entire line of the input file that starts at the byte offset</a:t>
            </a:r>
          </a:p>
          <a:p>
            <a:r>
              <a:rPr lang="en-US" dirty="0"/>
              <a:t>First tuple in input file: (0, 'CAH Mon 48')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9ACB1B-C7FE-4A77-9356-0EF53408C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405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76E01-2037-435C-A5A7-A4A490A67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Illustration: Mapper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F6F17-C97B-421D-9E9C-F92AB24B62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Input file:</a:t>
            </a:r>
          </a:p>
          <a:p>
            <a:pPr lvl="1"/>
            <a:r>
              <a:rPr lang="en-US" dirty="0"/>
              <a:t>Split into separate blocks</a:t>
            </a:r>
          </a:p>
          <a:p>
            <a:pPr lvl="1"/>
            <a:r>
              <a:rPr lang="en-US" dirty="0"/>
              <a:t>Data blocks wait in their respective DataNode for the map job to arrive</a:t>
            </a:r>
          </a:p>
          <a:p>
            <a:r>
              <a:rPr lang="en-US" dirty="0"/>
              <a:t>Mapper:</a:t>
            </a:r>
          </a:p>
          <a:p>
            <a:pPr lvl="1"/>
            <a:r>
              <a:rPr lang="en-US" dirty="0"/>
              <a:t>Takes the (key, value) pairs </a:t>
            </a:r>
          </a:p>
          <a:p>
            <a:pPr lvl="1"/>
            <a:r>
              <a:rPr lang="en-US" dirty="0"/>
              <a:t>Generates a new set of (key, value) pairs</a:t>
            </a:r>
          </a:p>
          <a:p>
            <a:pPr lvl="2"/>
            <a:r>
              <a:rPr lang="en-US" dirty="0"/>
              <a:t>For all DataNodes</a:t>
            </a:r>
          </a:p>
          <a:p>
            <a:r>
              <a:rPr lang="en-US" dirty="0"/>
              <a:t>New key =&gt; the value of the ticker in the line</a:t>
            </a:r>
          </a:p>
          <a:p>
            <a:r>
              <a:rPr lang="en-US" dirty="0"/>
              <a:t>The value =&gt; the stock price</a:t>
            </a:r>
          </a:p>
          <a:p>
            <a:r>
              <a:rPr lang="en-US" dirty="0"/>
              <a:t>(0, 'CAH Mon 48') transferred to ('CAH', 48)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B5C857-482F-47A5-BC7C-C3FD3DE8D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499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35549-8710-4548-897E-40589AC63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Illustration: Shuffling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11B78C-CAD4-4FCE-82EB-6B69024B3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Before reducer stage</a:t>
            </a:r>
          </a:p>
          <a:p>
            <a:r>
              <a:rPr lang="en-US" dirty="0"/>
              <a:t>Hidden from the programmer</a:t>
            </a:r>
          </a:p>
          <a:p>
            <a:r>
              <a:rPr lang="en-US" dirty="0"/>
              <a:t>Groups the records emitted in the mapper</a:t>
            </a:r>
          </a:p>
          <a:p>
            <a:r>
              <a:rPr lang="en-US" dirty="0"/>
              <a:t>Sends items with the same key to the same reducer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0604-5457-4809-8A6D-6EA296E1B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749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91EBC-D60B-4E50-9C3D-3181B6C89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Illustration: Reducer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DC031-A718-4B9B-928B-2B9A8616AD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Combines the input tuples</a:t>
            </a:r>
          </a:p>
          <a:p>
            <a:r>
              <a:rPr lang="en-US" dirty="0"/>
              <a:t>Outputs the maximum value for each stock</a:t>
            </a:r>
          </a:p>
          <a:p>
            <a:r>
              <a:rPr lang="en-US" dirty="0"/>
              <a:t>Producing a </a:t>
            </a:r>
            <a:r>
              <a:rPr lang="en-US" b="1" dirty="0"/>
              <a:t>final</a:t>
            </a:r>
            <a:r>
              <a:rPr lang="en-US" dirty="0"/>
              <a:t> result set: </a:t>
            </a:r>
          </a:p>
          <a:p>
            <a:pPr lvl="1"/>
            <a:r>
              <a:rPr lang="en-US" dirty="0"/>
              <a:t>('BAC', 26) ('CAH', 56) ('GE', 15) ('MCD', 175) ('PFE', 45)</a:t>
            </a:r>
          </a:p>
          <a:p>
            <a:r>
              <a:rPr lang="en-US" dirty="0"/>
              <a:t>Automatically sorts the results in </a:t>
            </a:r>
            <a:r>
              <a:rPr lang="en-US" i="1" dirty="0"/>
              <a:t>ascending</a:t>
            </a:r>
            <a:r>
              <a:rPr lang="en-US" dirty="0"/>
              <a:t> order based on the </a:t>
            </a:r>
            <a:r>
              <a:rPr lang="en-US" i="1" dirty="0"/>
              <a:t>output key</a:t>
            </a:r>
          </a:p>
          <a:p>
            <a:r>
              <a:rPr lang="en-US" dirty="0"/>
              <a:t>Sorting:</a:t>
            </a:r>
          </a:p>
          <a:p>
            <a:pPr lvl="1"/>
            <a:r>
              <a:rPr lang="en-US" i="1" dirty="0"/>
              <a:t>Hidden</a:t>
            </a:r>
            <a:r>
              <a:rPr lang="en-US" dirty="0"/>
              <a:t> from the programmer</a:t>
            </a:r>
          </a:p>
          <a:p>
            <a:pPr lvl="1"/>
            <a:r>
              <a:rPr lang="en-US" dirty="0"/>
              <a:t>Hadoop uses a very efficient sorting algorithm known as </a:t>
            </a:r>
            <a:r>
              <a:rPr lang="en-US" i="1" dirty="0"/>
              <a:t>TeraSort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E48C5D-0628-48F8-AB94-6216206AD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099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BEFDF-E4D0-446A-B93D-D198A91D6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Pseudocode of MapReduce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EA4F21-EAAE-4531-86E5-CE162F1E8D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Implemented with:</a:t>
            </a:r>
          </a:p>
          <a:p>
            <a:pPr lvl="1"/>
            <a:r>
              <a:rPr lang="en-US" dirty="0"/>
              <a:t>Java</a:t>
            </a:r>
          </a:p>
          <a:p>
            <a:pPr lvl="1"/>
            <a:r>
              <a:rPr lang="en-US" dirty="0"/>
              <a:t>Python</a:t>
            </a:r>
          </a:p>
          <a:p>
            <a:pPr lvl="1"/>
            <a:r>
              <a:rPr lang="en-US" dirty="0"/>
              <a:t>Any other programming language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9A5CBB-CC7C-4C13-93C0-569D00A43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93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3B49E-07A7-4E4B-A4CC-A34D3736C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Pseudocode of MapReduce: Mapper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EC87E-EA04-4A67-8EC7-2529302191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Executes each line of input file until no more lines remain</a:t>
            </a:r>
          </a:p>
          <a:p>
            <a:r>
              <a:rPr lang="en-US" dirty="0"/>
              <a:t>Creates tokens by splitting each line value into its components: </a:t>
            </a:r>
          </a:p>
          <a:p>
            <a:pPr lvl="1"/>
            <a:r>
              <a:rPr lang="en-US" dirty="0"/>
              <a:t>Emits the necessary components for further processing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FDA4B-279E-460E-864D-4C0C425CC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ext Box 2127878706">
            <a:extLst>
              <a:ext uri="{FF2B5EF4-FFF2-40B4-BE49-F238E27FC236}">
                <a16:creationId xmlns:a16="http://schemas.microsoft.com/office/drawing/2014/main" id="{0E46BBE7-20B2-4EBD-BD6B-E2B5C4A1D123}"/>
              </a:ext>
            </a:extLst>
          </p:cNvPr>
          <p:cNvSpPr txBox="1"/>
          <p:nvPr/>
        </p:nvSpPr>
        <p:spPr>
          <a:xfrm>
            <a:off x="6591804" y="2021555"/>
            <a:ext cx="5073015" cy="2031325"/>
          </a:xfrm>
          <a:prstGeom prst="rect">
            <a:avLst/>
          </a:prstGeom>
          <a:solidFill>
            <a:srgbClr val="C6D9F1"/>
          </a:solidFill>
          <a:ln w="6350">
            <a:solidFill>
              <a:srgbClr val="000000"/>
            </a:solidFill>
          </a:ln>
        </p:spPr>
        <p:txBody>
          <a:bodyPr rot="0" spcFirstLastPara="0" vert="horz" wrap="square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 map (K1, V1)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tokens = split(V1) // tokens = ['CAH', 'Mon', '48']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ticker = tokens [0]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trade_price = token [2]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emit (ticker, trade_price) // emits ('CAH', 48)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05A4CC-DB54-4434-8AD2-EBCF900D0E53}"/>
              </a:ext>
            </a:extLst>
          </p:cNvPr>
          <p:cNvSpPr txBox="1"/>
          <p:nvPr/>
        </p:nvSpPr>
        <p:spPr>
          <a:xfrm>
            <a:off x="6064624" y="422985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Box 4-1: Pseudocode for the Mapper</a:t>
            </a:r>
          </a:p>
        </p:txBody>
      </p:sp>
    </p:spTree>
    <p:extLst>
      <p:ext uri="{BB962C8B-B14F-4D97-AF65-F5344CB8AC3E}">
        <p14:creationId xmlns:p14="http://schemas.microsoft.com/office/powerpoint/2010/main" val="48339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9B146-1250-4168-BEC2-6E8F9613E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Pseudocode of MapReduce: Reducer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1860D1-1F46-4340-96A7-0C9E992B07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3910" y="1617115"/>
            <a:ext cx="6792312" cy="435133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2400" dirty="0"/>
              <a:t>After the shuffling process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Receives the mapper's output in the form of a series of (key, value) pairs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Processes all the key-value pairs generated by the mapper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For each key: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Reducer reads the values from the list (V2), until no values remain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Starting with the MaxPrice of 0, the reducer compares each trade_price from the list and updates the maximum price if the selected value is higher than MaxPrice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938B11-8980-497F-BF00-171CCBBE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ext Box 2127878711">
            <a:extLst>
              <a:ext uri="{FF2B5EF4-FFF2-40B4-BE49-F238E27FC236}">
                <a16:creationId xmlns:a16="http://schemas.microsoft.com/office/drawing/2014/main" id="{B9EEC9B8-DA5A-2D48-AB5A-674F0D0879D5}"/>
              </a:ext>
            </a:extLst>
          </p:cNvPr>
          <p:cNvSpPr txBox="1"/>
          <p:nvPr/>
        </p:nvSpPr>
        <p:spPr>
          <a:xfrm>
            <a:off x="7493876" y="1843950"/>
            <a:ext cx="4246179" cy="2585323"/>
          </a:xfrm>
          <a:prstGeom prst="rect">
            <a:avLst/>
          </a:prstGeom>
          <a:solidFill>
            <a:srgbClr val="C6D9F1"/>
          </a:solidFill>
          <a:ln w="6350">
            <a:solidFill>
              <a:srgbClr val="000000"/>
            </a:solidFill>
          </a:ln>
        </p:spPr>
        <p:txBody>
          <a:bodyPr rot="0" spcFirstLastPara="0" vert="horz" wrap="square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 reduce (K2, V2)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 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MaxPrice = 0;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for (i=0; i &lt; V2.length; i++){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if (V2[i] &gt; MaxPrice) then MaxPrice = V2[i]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}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emit (K2, MaxPrice) // emits ('CAH', 56)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819F86-60C7-A041-98B1-BD8805EA1E86}"/>
              </a:ext>
            </a:extLst>
          </p:cNvPr>
          <p:cNvSpPr txBox="1"/>
          <p:nvPr/>
        </p:nvSpPr>
        <p:spPr>
          <a:xfrm>
            <a:off x="7878466" y="4582535"/>
            <a:ext cx="3475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Box 4-2: Pseudocode for the Reducer</a:t>
            </a:r>
          </a:p>
        </p:txBody>
      </p:sp>
    </p:spTree>
    <p:extLst>
      <p:ext uri="{BB962C8B-B14F-4D97-AF65-F5344CB8AC3E}">
        <p14:creationId xmlns:p14="http://schemas.microsoft.com/office/powerpoint/2010/main" val="2708281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F1B3-4521-49BA-800D-2966F7133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Pseudocode of MapReduce: Combiner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0E46F-9833-49CE-9903-C7B75D58B1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Speeds up the MapReduce algorithm</a:t>
            </a:r>
          </a:p>
          <a:p>
            <a:r>
              <a:rPr lang="en-US" dirty="0"/>
              <a:t>"Local reducer"</a:t>
            </a:r>
          </a:p>
          <a:p>
            <a:pPr lvl="1"/>
            <a:r>
              <a:rPr lang="en-US" dirty="0"/>
              <a:t>Reduce function applied on the split file to generate intermediate aggregated results</a:t>
            </a:r>
          </a:p>
          <a:p>
            <a:r>
              <a:rPr lang="en-US" dirty="0"/>
              <a:t>Optional</a:t>
            </a:r>
          </a:p>
          <a:p>
            <a:r>
              <a:rPr lang="en-US" dirty="0"/>
              <a:t>AKA a semi-reducer, as it:</a:t>
            </a:r>
          </a:p>
          <a:p>
            <a:pPr lvl="1"/>
            <a:r>
              <a:rPr lang="en-US" dirty="0"/>
              <a:t>Accepts the inputs from the mapper</a:t>
            </a:r>
          </a:p>
          <a:p>
            <a:pPr lvl="1"/>
            <a:r>
              <a:rPr lang="en-US" dirty="0"/>
              <a:t>Passes the output (key, value) pairs to the reducer</a:t>
            </a:r>
          </a:p>
          <a:p>
            <a:r>
              <a:rPr lang="en-US" dirty="0"/>
              <a:t>Used in between the mapper and the reducer</a:t>
            </a:r>
          </a:p>
          <a:p>
            <a:pPr lvl="1"/>
            <a:r>
              <a:rPr lang="en-US" dirty="0"/>
              <a:t>To reduce the volume of data transfer between these two stages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B66300-C7D9-4B19-9395-236D311B7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012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0F64A-440F-4E07-9F6D-EE7DB39DC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62C254-5AFD-4B32-BA23-F30A8004CA07}"/>
              </a:ext>
            </a:extLst>
          </p:cNvPr>
          <p:cNvSpPr txBox="1"/>
          <p:nvPr/>
        </p:nvSpPr>
        <p:spPr>
          <a:xfrm>
            <a:off x="6064624" y="583558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4-2: Logical Model for the MapReduce Algorithm with a Combiner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7DB499B3-51E9-5F47-86EF-63C2CE47C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320" y="455552"/>
            <a:ext cx="93472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897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B1870-ED3B-4771-9505-91CF753B5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Combiner Important?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31449-50FA-4A52-95A9-71968CA0E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Minimizes the data transfer over the network </a:t>
            </a:r>
          </a:p>
          <a:p>
            <a:r>
              <a:rPr lang="en-US" dirty="0"/>
              <a:t>Loosens the workload on the reducer</a:t>
            </a:r>
          </a:p>
          <a:p>
            <a:r>
              <a:rPr lang="en-US" dirty="0"/>
              <a:t>Primary function:</a:t>
            </a:r>
          </a:p>
          <a:p>
            <a:pPr lvl="1"/>
            <a:r>
              <a:rPr lang="en-US" dirty="0"/>
              <a:t>Summarizes the map output records with the same key</a:t>
            </a:r>
          </a:p>
          <a:p>
            <a:r>
              <a:rPr lang="en-US" dirty="0"/>
              <a:t>Only used to process associative operations:</a:t>
            </a:r>
          </a:p>
          <a:p>
            <a:pPr lvl="1"/>
            <a:r>
              <a:rPr lang="en-US" dirty="0"/>
              <a:t>Calculation gives the same result regardless of the way the input components are grouped</a:t>
            </a:r>
          </a:p>
          <a:p>
            <a:pPr lvl="1"/>
            <a:r>
              <a:rPr lang="en-US" dirty="0"/>
              <a:t>Example: addition and multiplication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EF48A-00B4-4507-BCC4-E013E0369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512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5F314-EF9B-4EB4-8694-36CC9D740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 Box 2127878713">
            <a:extLst>
              <a:ext uri="{FF2B5EF4-FFF2-40B4-BE49-F238E27FC236}">
                <a16:creationId xmlns:a16="http://schemas.microsoft.com/office/drawing/2014/main" id="{4150CEBE-5B90-4C17-84AB-7E506D060291}"/>
              </a:ext>
            </a:extLst>
          </p:cNvPr>
          <p:cNvSpPr txBox="1"/>
          <p:nvPr/>
        </p:nvSpPr>
        <p:spPr>
          <a:xfrm>
            <a:off x="3830710" y="1888449"/>
            <a:ext cx="4530575" cy="2585323"/>
          </a:xfrm>
          <a:prstGeom prst="rect">
            <a:avLst/>
          </a:prstGeom>
          <a:solidFill>
            <a:srgbClr val="C6D9F1"/>
          </a:solidFill>
          <a:ln w="6350">
            <a:solidFill>
              <a:srgbClr val="000000"/>
            </a:solidFill>
          </a:ln>
          <a:effectLst>
            <a:outerShdw blurRad="50800" dist="50800" dir="5400000" algn="ctr" rotWithShape="0">
              <a:schemeClr val="bg1"/>
            </a:outerShdw>
          </a:effectLst>
        </p:spPr>
        <p:txBody>
          <a:bodyPr rot="0" spcFirstLastPara="0" vert="horz" wrap="square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>
                  <a:outerShdw blurRad="50800" dist="50800" dir="5400000" sx="0" sy="0" algn="ctr">
                    <a:schemeClr val="bg1"/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 reduce (K2, V2)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>
                  <a:outerShdw blurRad="50800" dist="50800" dir="5400000" sx="0" sy="0" algn="ctr">
                    <a:schemeClr val="bg1"/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>
                  <a:outerShdw blurRad="50800" dist="50800" dir="5400000" sx="0" sy="0" algn="ctr">
                    <a:schemeClr val="bg1"/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MinPrice = V2[0]; 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>
                  <a:outerShdw blurRad="50800" dist="50800" dir="5400000" sx="0" sy="0" algn="ctr">
                    <a:schemeClr val="bg1"/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for (i=1; i &lt; V2.length; i++){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>
                  <a:outerShdw blurRad="50800" dist="50800" dir="5400000" sx="0" sy="0" algn="ctr">
                    <a:schemeClr val="bg1"/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 if (V2[i] &lt; MinPrice) then MinPrice = V2[i]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>
                  <a:outerShdw blurRad="50800" dist="50800" dir="5400000" sx="0" sy="0" algn="ctr">
                    <a:schemeClr val="bg1"/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}	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>
                  <a:outerShdw blurRad="50800" dist="50800" dir="5400000" sx="0" sy="0" algn="ctr">
                    <a:schemeClr val="bg1"/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emit (K2, MinPrice)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>
                  <a:outerShdw blurRad="50800" dist="50800" dir="5400000" sx="0" sy="0" algn="ctr">
                    <a:schemeClr val="bg1"/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7D8C5A-7747-413F-A0D3-06E30CAEFB7E}"/>
              </a:ext>
            </a:extLst>
          </p:cNvPr>
          <p:cNvSpPr txBox="1"/>
          <p:nvPr/>
        </p:nvSpPr>
        <p:spPr>
          <a:xfrm>
            <a:off x="3047998" y="455522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Box 4-3: Adjusting the Reducer to Emit the Minimum Price</a:t>
            </a:r>
          </a:p>
        </p:txBody>
      </p:sp>
    </p:spTree>
    <p:extLst>
      <p:ext uri="{BB962C8B-B14F-4D97-AF65-F5344CB8AC3E}">
        <p14:creationId xmlns:p14="http://schemas.microsoft.com/office/powerpoint/2010/main" val="2169765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299FA-82AE-4382-9587-6997C723F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ext Box 2127878719">
            <a:extLst>
              <a:ext uri="{FF2B5EF4-FFF2-40B4-BE49-F238E27FC236}">
                <a16:creationId xmlns:a16="http://schemas.microsoft.com/office/drawing/2014/main" id="{494D995F-91F4-4D49-A587-C01AEAA5963B}"/>
              </a:ext>
            </a:extLst>
          </p:cNvPr>
          <p:cNvSpPr txBox="1"/>
          <p:nvPr/>
        </p:nvSpPr>
        <p:spPr>
          <a:xfrm>
            <a:off x="3506303" y="1195321"/>
            <a:ext cx="5179394" cy="2862322"/>
          </a:xfrm>
          <a:prstGeom prst="rect">
            <a:avLst/>
          </a:prstGeom>
          <a:solidFill>
            <a:srgbClr val="C6D9F1"/>
          </a:solidFill>
          <a:ln w="6350">
            <a:solidFill>
              <a:srgbClr val="000000"/>
            </a:solidFill>
          </a:ln>
        </p:spPr>
        <p:txBody>
          <a:bodyPr rot="0" spcFirstLastPara="0" vert="horz" wrap="square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 reduce (K2, V2)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SumPrice = 0;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for (i=0; i &lt; V2.length; i++){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SumPrice = SumPrice+ V2[i]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AvgPrice = SumPrice/(V2.length+1) //divide by the number of days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}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emit (K2, AvgPrice)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F06683-EE91-4754-81AB-068CC1383C14}"/>
              </a:ext>
            </a:extLst>
          </p:cNvPr>
          <p:cNvSpPr txBox="1"/>
          <p:nvPr/>
        </p:nvSpPr>
        <p:spPr>
          <a:xfrm>
            <a:off x="3048000" y="426369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Box 4-4: Adjusting the Reducer to Emit the Average Price</a:t>
            </a:r>
          </a:p>
        </p:txBody>
      </p:sp>
    </p:spTree>
    <p:extLst>
      <p:ext uri="{BB962C8B-B14F-4D97-AF65-F5344CB8AC3E}">
        <p14:creationId xmlns:p14="http://schemas.microsoft.com/office/powerpoint/2010/main" val="1502415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EFCD-5F40-40DE-884A-40011C33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8DEB4-3ED1-499E-B5B0-1493172A92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Initializes the program</a:t>
            </a:r>
          </a:p>
          <a:p>
            <a:r>
              <a:rPr lang="en-US" dirty="0"/>
              <a:t>Sets the input file</a:t>
            </a:r>
          </a:p>
          <a:p>
            <a:r>
              <a:rPr lang="en-US" dirty="0"/>
              <a:t>Instructs the Hadoop platform to execute the mapper, combiner (if present), and reducer</a:t>
            </a:r>
          </a:p>
          <a:p>
            <a:r>
              <a:rPr lang="en-US" dirty="0"/>
              <a:t>Controls where the output files are placed in the Hadoop cluster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585E2F-E6AA-45EB-925A-B8B285996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055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FA2C9-12B6-4F2A-8FCF-930BA9E8D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Patterns and Examples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B3D976-EEB6-47FE-BE95-495069BE5B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b="1" dirty="0"/>
              <a:t>Text Mining with MapReduce:</a:t>
            </a:r>
          </a:p>
          <a:p>
            <a:pPr lvl="1"/>
            <a:r>
              <a:rPr lang="en-US" dirty="0"/>
              <a:t>Variation of data mining techniques </a:t>
            </a:r>
          </a:p>
          <a:p>
            <a:pPr lvl="1"/>
            <a:r>
              <a:rPr lang="en-US" dirty="0"/>
              <a:t>Patterns are extracted from a collection of text documents </a:t>
            </a:r>
          </a:p>
          <a:p>
            <a:pPr lvl="1"/>
            <a:r>
              <a:rPr lang="en-US" dirty="0"/>
              <a:t>Input files consist of unstructured and voluminous pages from:</a:t>
            </a:r>
          </a:p>
          <a:p>
            <a:pPr lvl="2"/>
            <a:r>
              <a:rPr lang="en-US" dirty="0"/>
              <a:t>Websites</a:t>
            </a:r>
          </a:p>
          <a:p>
            <a:pPr lvl="2"/>
            <a:r>
              <a:rPr lang="en-US" dirty="0"/>
              <a:t>Business documents</a:t>
            </a:r>
          </a:p>
          <a:p>
            <a:pPr lvl="2"/>
            <a:r>
              <a:rPr lang="en-US" dirty="0"/>
              <a:t>Research articles</a:t>
            </a:r>
          </a:p>
          <a:p>
            <a:pPr lvl="2"/>
            <a:r>
              <a:rPr lang="en-US" dirty="0"/>
              <a:t>Government reports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584505-4035-4A0F-A6C1-0F4056D00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3083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B0ADF-2B41-47BF-AD4D-6AD209B56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WordCount Algorithm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D41371-8F41-4E3D-BE00-C505F3BC70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Counts the number of occurrences of each word in a given input file</a:t>
            </a:r>
          </a:p>
          <a:p>
            <a:r>
              <a:rPr lang="en-US" dirty="0"/>
              <a:t>Input file is split into several DataNodes</a:t>
            </a:r>
          </a:p>
          <a:p>
            <a:r>
              <a:rPr lang="en-US" dirty="0"/>
              <a:t>Mapper in the WordCount: </a:t>
            </a:r>
          </a:p>
          <a:p>
            <a:pPr lvl="1"/>
            <a:r>
              <a:rPr lang="en-US" dirty="0"/>
              <a:t>Reads each word in the input file</a:t>
            </a:r>
          </a:p>
          <a:p>
            <a:pPr lvl="1"/>
            <a:r>
              <a:rPr lang="en-US" dirty="0"/>
              <a:t>Emits that word and the number 1 as the (key, value) pair: (word,1)</a:t>
            </a:r>
          </a:p>
          <a:p>
            <a:r>
              <a:rPr lang="en-US" dirty="0"/>
              <a:t>Shuffling stage:</a:t>
            </a:r>
          </a:p>
          <a:p>
            <a:pPr lvl="1"/>
            <a:r>
              <a:rPr lang="en-US" dirty="0"/>
              <a:t>Sorts and groups these words</a:t>
            </a:r>
          </a:p>
          <a:p>
            <a:pPr lvl="1"/>
            <a:r>
              <a:rPr lang="en-US" dirty="0"/>
              <a:t>Sends the new (key, value) pairs with the same key (same word) to the same reducer</a:t>
            </a:r>
          </a:p>
          <a:p>
            <a:r>
              <a:rPr lang="en-US" dirty="0"/>
              <a:t>Example: Record [customers, (1, 1, 1)] </a:t>
            </a:r>
          </a:p>
          <a:p>
            <a:pPr lvl="1"/>
            <a:r>
              <a:rPr lang="en-US" dirty="0"/>
              <a:t>Shows that the word </a:t>
            </a:r>
            <a:r>
              <a:rPr lang="en-US" i="1" dirty="0"/>
              <a:t>customers</a:t>
            </a:r>
            <a:r>
              <a:rPr lang="en-US" dirty="0"/>
              <a:t> is present three times</a:t>
            </a:r>
          </a:p>
          <a:p>
            <a:pPr lvl="1"/>
            <a:r>
              <a:rPr lang="en-US" dirty="0"/>
              <a:t>This word is present once in each of the three DataNodes</a:t>
            </a:r>
          </a:p>
          <a:p>
            <a:pPr lvl="1"/>
            <a:r>
              <a:rPr lang="en-US" dirty="0"/>
              <a:t>The reducer adds the ones and emits the word and the sum as the frequency of the word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2537A9-FA68-4D71-936E-32F71405C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8902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A94D05-2736-4226-B2B1-6D876569F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26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64C7F8C-E8F6-5B47-9992-FE59DBE669B0}"/>
              </a:ext>
            </a:extLst>
          </p:cNvPr>
          <p:cNvGrpSpPr/>
          <p:nvPr/>
        </p:nvGrpSpPr>
        <p:grpSpPr>
          <a:xfrm>
            <a:off x="0" y="0"/>
            <a:ext cx="12192000" cy="6318913"/>
            <a:chOff x="0" y="0"/>
            <a:chExt cx="12192000" cy="6318913"/>
          </a:xfrm>
        </p:grpSpPr>
        <p:pic>
          <p:nvPicPr>
            <p:cNvPr id="6" name="Picture 5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6B62F2F7-22FA-44E4-9FCA-3F2FB8297D79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318913"/>
            </a:xfrm>
            <a:prstGeom prst="rect">
              <a:avLst/>
            </a:prstGeom>
            <a:ln>
              <a:solidFill>
                <a:schemeClr val="accent1"/>
              </a:solidFill>
            </a:ln>
            <a:effectLst/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8330941-621D-4612-AFE7-945E3127345E}"/>
                </a:ext>
              </a:extLst>
            </p:cNvPr>
            <p:cNvSpPr txBox="1"/>
            <p:nvPr/>
          </p:nvSpPr>
          <p:spPr>
            <a:xfrm>
              <a:off x="6096000" y="5917110"/>
              <a:ext cx="6096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/>
                  </a:solidFill>
                </a:rPr>
                <a:t>Figure 4-3: Logical Model for the WordCount MapReduce Algorithm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06343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0EAD-68C7-4B03-81FD-859195000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for WordCount: Mapper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EEC0E7-67BE-4E47-B3EE-201C4E14A8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6046076" cy="4351338"/>
          </a:xfrm>
        </p:spPr>
        <p:txBody>
          <a:bodyPr>
            <a:normAutofit/>
          </a:bodyPr>
          <a:lstStyle/>
          <a:p>
            <a:r>
              <a:rPr lang="en-US" dirty="0"/>
              <a:t>Map function uses a tokenizer to read each word in a given line</a:t>
            </a:r>
          </a:p>
          <a:p>
            <a:r>
              <a:rPr lang="en-US" dirty="0"/>
              <a:t>For each word in the line, the map function emits the word and the number 1 </a:t>
            </a:r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Intermediate data produced by the mapper are:</a:t>
            </a:r>
          </a:p>
          <a:p>
            <a:pPr lvl="2"/>
            <a:r>
              <a:rPr lang="en-US" dirty="0"/>
              <a:t>(customers, 1), (are, 1), (unable, 1), (to, 1)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4DB743-5E24-4D75-828E-7EB599F92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Text Box 65">
            <a:extLst>
              <a:ext uri="{FF2B5EF4-FFF2-40B4-BE49-F238E27FC236}">
                <a16:creationId xmlns:a16="http://schemas.microsoft.com/office/drawing/2014/main" id="{CCBF217F-BAE2-EB49-982A-C9799EFC2908}"/>
              </a:ext>
            </a:extLst>
          </p:cNvPr>
          <p:cNvSpPr txBox="1"/>
          <p:nvPr/>
        </p:nvSpPr>
        <p:spPr>
          <a:xfrm>
            <a:off x="6884276" y="2342307"/>
            <a:ext cx="4720389" cy="2308324"/>
          </a:xfrm>
          <a:prstGeom prst="rect">
            <a:avLst/>
          </a:prstGeom>
          <a:solidFill>
            <a:srgbClr val="C6D9F1"/>
          </a:solidFill>
          <a:ln w="6350">
            <a:solidFill>
              <a:srgbClr val="000000"/>
            </a:solidFill>
          </a:ln>
        </p:spPr>
        <p:txBody>
          <a:bodyPr rot="0" spcFirstLastPara="0" vert="horz" wrap="square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 map (k1, v1)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tokens [] = tokenize(v1) // tokens = ['customers' 'are' 'unable' 'to']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foreach (word IN tokens){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emit (word, 1)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}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F27D95-1622-4D42-9990-1902058B6358}"/>
              </a:ext>
            </a:extLst>
          </p:cNvPr>
          <p:cNvSpPr txBox="1"/>
          <p:nvPr/>
        </p:nvSpPr>
        <p:spPr>
          <a:xfrm>
            <a:off x="6884276" y="4748585"/>
            <a:ext cx="44774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Box 4-5: The Pseudocode for the WordCount Mapper</a:t>
            </a:r>
          </a:p>
        </p:txBody>
      </p:sp>
    </p:spTree>
    <p:extLst>
      <p:ext uri="{BB962C8B-B14F-4D97-AF65-F5344CB8AC3E}">
        <p14:creationId xmlns:p14="http://schemas.microsoft.com/office/powerpoint/2010/main" val="37518257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A455C-4926-42BA-8F15-CE137616E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for WordCount: Reducer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763928-CB88-4398-874B-D6EB141E6B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6424448" cy="4351338"/>
          </a:xfrm>
        </p:spPr>
        <p:txBody>
          <a:bodyPr/>
          <a:lstStyle/>
          <a:p>
            <a:r>
              <a:rPr lang="en-US" dirty="0"/>
              <a:t>Reducer adds all ones for each word</a:t>
            </a:r>
          </a:p>
          <a:p>
            <a:pPr lvl="1"/>
            <a:r>
              <a:rPr lang="en-US" dirty="0"/>
              <a:t>After the mapper processes all words in the input file</a:t>
            </a:r>
          </a:p>
          <a:p>
            <a:r>
              <a:rPr lang="en-US" dirty="0"/>
              <a:t>Emits the word and the sum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For k2 = customers and list[v2] = [1, 1, 1] </a:t>
            </a:r>
          </a:p>
          <a:p>
            <a:pPr lvl="2"/>
            <a:r>
              <a:rPr lang="en-US" dirty="0"/>
              <a:t>The output from the reducer =&gt; (customers, 3)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A3A5B-B6E9-45A3-8746-3B33BE791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Text Box 114">
            <a:extLst>
              <a:ext uri="{FF2B5EF4-FFF2-40B4-BE49-F238E27FC236}">
                <a16:creationId xmlns:a16="http://schemas.microsoft.com/office/drawing/2014/main" id="{291C1DD0-5CCE-5F46-B4E6-97300AC5D318}"/>
              </a:ext>
            </a:extLst>
          </p:cNvPr>
          <p:cNvSpPr txBox="1"/>
          <p:nvPr/>
        </p:nvSpPr>
        <p:spPr>
          <a:xfrm>
            <a:off x="7345078" y="1952362"/>
            <a:ext cx="4008722" cy="2308324"/>
          </a:xfrm>
          <a:prstGeom prst="rect">
            <a:avLst/>
          </a:prstGeom>
          <a:solidFill>
            <a:srgbClr val="C6D9F1"/>
          </a:solidFill>
          <a:ln w="6350">
            <a:solidFill>
              <a:srgbClr val="000000"/>
            </a:solidFill>
          </a:ln>
        </p:spPr>
        <p:txBody>
          <a:bodyPr rot="0" spcFirstLastPara="0" vert="horz" wrap="square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 reduce (k2, list&lt;v2&gt;)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sum = 0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foreach (v in list[v2]&gt;){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sum = sum + v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}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emit (k2, sum)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37591C-71CC-B845-964E-44DF8EAB63F9}"/>
              </a:ext>
            </a:extLst>
          </p:cNvPr>
          <p:cNvSpPr txBox="1"/>
          <p:nvPr/>
        </p:nvSpPr>
        <p:spPr>
          <a:xfrm>
            <a:off x="7148009" y="4368471"/>
            <a:ext cx="42057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Box 4-6: The Pseudocode for the WordCount Reducer</a:t>
            </a:r>
          </a:p>
        </p:txBody>
      </p:sp>
    </p:spTree>
    <p:extLst>
      <p:ext uri="{BB962C8B-B14F-4D97-AF65-F5344CB8AC3E}">
        <p14:creationId xmlns:p14="http://schemas.microsoft.com/office/powerpoint/2010/main" val="32094817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3F899-E263-49CB-B475-6480243F2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Variations of the WordCount Algorithm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A5558-3131-4BE9-A124-6FC88C89C3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825625"/>
            <a:ext cx="4888833" cy="4351338"/>
          </a:xfrm>
        </p:spPr>
        <p:txBody>
          <a:bodyPr/>
          <a:lstStyle/>
          <a:p>
            <a:r>
              <a:rPr lang="en-US" dirty="0"/>
              <a:t>Value-to-key conversion:</a:t>
            </a:r>
          </a:p>
          <a:p>
            <a:pPr lvl="1"/>
            <a:r>
              <a:rPr lang="en-US" dirty="0"/>
              <a:t>Provides a scalable solution for secondary sorting</a:t>
            </a:r>
          </a:p>
          <a:p>
            <a:pPr lvl="1"/>
            <a:r>
              <a:rPr lang="en-US" dirty="0"/>
              <a:t>By moving the inverse of the value (sum) into the key:</a:t>
            </a:r>
          </a:p>
          <a:p>
            <a:pPr lvl="2"/>
            <a:r>
              <a:rPr lang="en-US" dirty="0"/>
              <a:t>Exploit the MapReduce execution framework itself for sorting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C2D7AC-176C-4469-9E14-5A8CE0DFE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Text Box 128">
            <a:extLst>
              <a:ext uri="{FF2B5EF4-FFF2-40B4-BE49-F238E27FC236}">
                <a16:creationId xmlns:a16="http://schemas.microsoft.com/office/drawing/2014/main" id="{07827BAC-73E1-4DB5-AC4C-D52390D1F293}"/>
              </a:ext>
            </a:extLst>
          </p:cNvPr>
          <p:cNvSpPr txBox="1"/>
          <p:nvPr/>
        </p:nvSpPr>
        <p:spPr>
          <a:xfrm>
            <a:off x="6722444" y="1825625"/>
            <a:ext cx="3897429" cy="2862322"/>
          </a:xfrm>
          <a:prstGeom prst="rect">
            <a:avLst/>
          </a:prstGeom>
          <a:solidFill>
            <a:srgbClr val="C6D9F1"/>
          </a:solidFill>
          <a:ln w="6350">
            <a:solidFill>
              <a:srgbClr val="000000"/>
            </a:solidFill>
          </a:ln>
        </p:spPr>
        <p:txBody>
          <a:bodyPr rot="0" spcFirstLastPara="0" vert="horz" wrap="square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 reduce (k2, list&lt;v2&gt;)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sum = 0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foreach (v in list[v2]&gt;){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4572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sum = sum + v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4572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inverse_sum = 1/sum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4572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k2 = inverse_sum + " " + k2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}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emit (k2, sum)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CD2230-27EE-4BD2-A6E1-151AF03B20CE}"/>
              </a:ext>
            </a:extLst>
          </p:cNvPr>
          <p:cNvSpPr txBox="1"/>
          <p:nvPr/>
        </p:nvSpPr>
        <p:spPr>
          <a:xfrm>
            <a:off x="5727032" y="482288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Box 4-7: Adjusting the Reducer to Sort the Output</a:t>
            </a:r>
          </a:p>
        </p:txBody>
      </p:sp>
    </p:spTree>
    <p:extLst>
      <p:ext uri="{BB962C8B-B14F-4D97-AF65-F5344CB8AC3E}">
        <p14:creationId xmlns:p14="http://schemas.microsoft.com/office/powerpoint/2010/main" val="32800241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FBA16-D878-436A-8A6F-879BB1406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Variations of the WordCount Algorithm (cont.)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86CFE8-0114-47D0-993C-F3684527B8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5594684" cy="4351338"/>
          </a:xfrm>
        </p:spPr>
        <p:txBody>
          <a:bodyPr/>
          <a:lstStyle/>
          <a:p>
            <a:r>
              <a:rPr lang="en-US" dirty="0"/>
              <a:t>Frequency of a certain set of words—call it a set of keywords:</a:t>
            </a:r>
          </a:p>
          <a:p>
            <a:pPr lvl="1"/>
            <a:r>
              <a:rPr lang="en-US" dirty="0"/>
              <a:t>Mapper emits the (word, 1) pair only </a:t>
            </a:r>
            <a:r>
              <a:rPr lang="en-US" b="1" dirty="0"/>
              <a:t>if the word is part of the keyword set</a:t>
            </a:r>
          </a:p>
          <a:p>
            <a:pPr marL="457200" lvl="1" indent="0">
              <a:buNone/>
            </a:pP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551CC-E560-47DC-84B7-421B28CDA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8" name="Text Box 129">
            <a:extLst>
              <a:ext uri="{FF2B5EF4-FFF2-40B4-BE49-F238E27FC236}">
                <a16:creationId xmlns:a16="http://schemas.microsoft.com/office/drawing/2014/main" id="{6B028E51-8E91-4493-A209-A8E91A2085EF}"/>
              </a:ext>
            </a:extLst>
          </p:cNvPr>
          <p:cNvSpPr txBox="1"/>
          <p:nvPr/>
        </p:nvSpPr>
        <p:spPr>
          <a:xfrm>
            <a:off x="6759949" y="1830136"/>
            <a:ext cx="4705350" cy="2308324"/>
          </a:xfrm>
          <a:prstGeom prst="rect">
            <a:avLst/>
          </a:prstGeom>
          <a:solidFill>
            <a:srgbClr val="C6D9F1"/>
          </a:solidFill>
          <a:ln w="6350">
            <a:solidFill>
              <a:srgbClr val="000000"/>
            </a:solidFill>
          </a:ln>
        </p:spPr>
        <p:txBody>
          <a:bodyPr rot="0" spcFirstLastPara="0" vert="horz" wrap="square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 map (k1, v1)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keywords [] = ['word1' 'word2' …]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tokens [] = tokenize(v1)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foreach (word IN tokens){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4572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(word IN keywords) then emit (word, 1)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}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328F02-8DAB-41AB-969E-ABAAE268F7E3}"/>
              </a:ext>
            </a:extLst>
          </p:cNvPr>
          <p:cNvSpPr txBox="1"/>
          <p:nvPr/>
        </p:nvSpPr>
        <p:spPr>
          <a:xfrm>
            <a:off x="6455149" y="4424447"/>
            <a:ext cx="54006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Box 4-8: Adjusting the Mapper to Emit from a Set of Keywords</a:t>
            </a:r>
          </a:p>
        </p:txBody>
      </p:sp>
    </p:spTree>
    <p:extLst>
      <p:ext uri="{BB962C8B-B14F-4D97-AF65-F5344CB8AC3E}">
        <p14:creationId xmlns:p14="http://schemas.microsoft.com/office/powerpoint/2010/main" val="41615062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BF902-E0F8-4DB9-AA68-CE45B9D91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Variations of the WordCount Algorithm (cont.)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0C805-CB2B-4F9D-973D-D0D679D302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7938" y="1576862"/>
            <a:ext cx="5212976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Related to categories of words and not specific words</a:t>
            </a:r>
          </a:p>
          <a:p>
            <a:pPr lvl="1"/>
            <a:r>
              <a:rPr lang="en-US" dirty="0"/>
              <a:t>You have two categories and a dictionary of words in each one</a:t>
            </a:r>
          </a:p>
          <a:p>
            <a:pPr lvl="1"/>
            <a:r>
              <a:rPr lang="en-US" dirty="0"/>
              <a:t>Every word is compared to those two dictionaries</a:t>
            </a:r>
          </a:p>
          <a:p>
            <a:pPr lvl="1"/>
            <a:r>
              <a:rPr lang="en-US" dirty="0"/>
              <a:t>The value of a given category is increased when the word is found in that category</a:t>
            </a:r>
          </a:p>
          <a:p>
            <a:pPr lvl="1"/>
            <a:r>
              <a:rPr lang="en-US" dirty="0"/>
              <a:t>The output: the degree of positive and negative emotions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BF166-BCF0-44C6-AA8B-2E677166E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Text Box 130">
            <a:extLst>
              <a:ext uri="{FF2B5EF4-FFF2-40B4-BE49-F238E27FC236}">
                <a16:creationId xmlns:a16="http://schemas.microsoft.com/office/drawing/2014/main" id="{8D505A70-4F29-42B6-A99E-25E6C94B6076}"/>
              </a:ext>
            </a:extLst>
          </p:cNvPr>
          <p:cNvSpPr txBox="1"/>
          <p:nvPr/>
        </p:nvSpPr>
        <p:spPr>
          <a:xfrm>
            <a:off x="6506136" y="1859339"/>
            <a:ext cx="5212976" cy="3139321"/>
          </a:xfrm>
          <a:prstGeom prst="rect">
            <a:avLst/>
          </a:prstGeom>
          <a:solidFill>
            <a:srgbClr val="C6D9F1"/>
          </a:solidFill>
          <a:ln w="6350">
            <a:solidFill>
              <a:srgbClr val="000000"/>
            </a:solidFill>
          </a:ln>
        </p:spPr>
        <p:txBody>
          <a:bodyPr rot="0" spcFirstLastPara="0" vert="horz" wrap="square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 map (k1, v1)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pos_emotions [] = ['happy' 'excitement' 'joy' 'optimistic']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neg_emotions [] = ['sad' 'hurtful' 'pessimistic']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tokens [] = tokenize(v1)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foreach (word IN tokens){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4572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if (word IN pos_emotions) then emit ('PE', 1)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4572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if (word IN neg_emotions) then emit ('NE', 1)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}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A2097E-D044-47A7-97C3-1FD0A9085AF9}"/>
              </a:ext>
            </a:extLst>
          </p:cNvPr>
          <p:cNvSpPr txBox="1"/>
          <p:nvPr/>
        </p:nvSpPr>
        <p:spPr>
          <a:xfrm>
            <a:off x="6241087" y="5072317"/>
            <a:ext cx="56147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Box 4-9: The Mapper Code to Generate a List of Categories</a:t>
            </a:r>
          </a:p>
        </p:txBody>
      </p:sp>
    </p:spTree>
    <p:extLst>
      <p:ext uri="{BB962C8B-B14F-4D97-AF65-F5344CB8AC3E}">
        <p14:creationId xmlns:p14="http://schemas.microsoft.com/office/powerpoint/2010/main" val="10985283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627C5-D7D6-4F15-8B65-B1CCD30DA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MapReduce in Java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9D988D-3723-4000-A423-3C029EA4BA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The MapReduce job:</a:t>
            </a:r>
          </a:p>
          <a:p>
            <a:pPr lvl="1"/>
            <a:r>
              <a:rPr lang="en-US" dirty="0"/>
              <a:t>A </a:t>
            </a:r>
            <a:r>
              <a:rPr lang="en-US" i="1" dirty="0"/>
              <a:t>Java Archived (JAR)</a:t>
            </a:r>
            <a:r>
              <a:rPr lang="en-US" dirty="0"/>
              <a:t> file</a:t>
            </a:r>
          </a:p>
          <a:p>
            <a:pPr lvl="1"/>
            <a:r>
              <a:rPr lang="en-US" dirty="0"/>
              <a:t>The JAR file is compiled Java code with other resources and libraries necessary to run the code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F1DADE-D663-4C82-B4CA-CF3948240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4726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040C91-56AE-404C-AB2E-420102F0A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6" name="Picture 5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065AC962-DB7B-4913-BB98-EA3F9683D7BE}"/>
              </a:ext>
            </a:extLst>
          </p:cNvPr>
          <p:cNvPicPr/>
          <p:nvPr/>
        </p:nvPicPr>
        <p:blipFill rotWithShape="1">
          <a:blip r:embed="rId2"/>
          <a:srcRect t="2494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0A4636-21D7-F744-9BBF-E3511210F30A}"/>
              </a:ext>
            </a:extLst>
          </p:cNvPr>
          <p:cNvSpPr txBox="1"/>
          <p:nvPr/>
        </p:nvSpPr>
        <p:spPr>
          <a:xfrm>
            <a:off x="6715168" y="647197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i="1" dirty="0">
                <a:solidFill>
                  <a:schemeClr val="accent1"/>
                </a:solidFill>
              </a:rPr>
              <a:t>Figure 4-4: Java Code for the NYSE MapReduce Algorithm</a:t>
            </a:r>
            <a:endParaRPr lang="en-US" sz="1400" b="1" i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0629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4028F-8ED1-4E23-ADD9-03B117D8E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026" y="316818"/>
            <a:ext cx="10515600" cy="73221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The MapReduce in 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94794-3A12-4587-A955-70DEAF6DA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34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D3A200B-9273-8245-957C-2D65F12CE2DD}"/>
              </a:ext>
            </a:extLst>
          </p:cNvPr>
          <p:cNvGrpSpPr/>
          <p:nvPr/>
        </p:nvGrpSpPr>
        <p:grpSpPr>
          <a:xfrm>
            <a:off x="44826" y="1049034"/>
            <a:ext cx="6096000" cy="4557598"/>
            <a:chOff x="3048000" y="1255972"/>
            <a:chExt cx="6096000" cy="4557598"/>
          </a:xfrm>
        </p:grpSpPr>
        <p:pic>
          <p:nvPicPr>
            <p:cNvPr id="9" name="Picture 8" descr="A screenshot of a social media post&#10;&#10;Description automatically generated">
              <a:extLst>
                <a:ext uri="{FF2B5EF4-FFF2-40B4-BE49-F238E27FC236}">
                  <a16:creationId xmlns:a16="http://schemas.microsoft.com/office/drawing/2014/main" id="{2A584EE9-FBE8-7647-A492-D03D8B6B7672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048000" y="1255972"/>
              <a:ext cx="5980717" cy="4249821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D80A95F-920A-DE46-A895-EC267B64B23E}"/>
                </a:ext>
              </a:extLst>
            </p:cNvPr>
            <p:cNvSpPr txBox="1"/>
            <p:nvPr/>
          </p:nvSpPr>
          <p:spPr>
            <a:xfrm>
              <a:off x="3048000" y="5505793"/>
              <a:ext cx="6096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400" b="1" i="1" dirty="0">
                  <a:solidFill>
                    <a:schemeClr val="accent1"/>
                  </a:solidFill>
                </a:rPr>
                <a:t>Figure 4-5: Python Code for Mapper</a:t>
              </a:r>
              <a:endParaRPr lang="en-US" sz="1400" b="1" i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682CE93-AE18-324C-BC03-F4A7A329DC4D}"/>
              </a:ext>
            </a:extLst>
          </p:cNvPr>
          <p:cNvGrpSpPr/>
          <p:nvPr/>
        </p:nvGrpSpPr>
        <p:grpSpPr>
          <a:xfrm>
            <a:off x="6288492" y="1049034"/>
            <a:ext cx="5347074" cy="4873761"/>
            <a:chOff x="3422463" y="920416"/>
            <a:chExt cx="5347074" cy="4873761"/>
          </a:xfrm>
        </p:grpSpPr>
        <p:pic>
          <p:nvPicPr>
            <p:cNvPr id="14" name="Picture 13" descr="A screenshot of a social media post&#10;&#10;Description automatically generated">
              <a:extLst>
                <a:ext uri="{FF2B5EF4-FFF2-40B4-BE49-F238E27FC236}">
                  <a16:creationId xmlns:a16="http://schemas.microsoft.com/office/drawing/2014/main" id="{9D23939D-B276-D243-AA24-E88F3E4ED9AA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422463" y="920416"/>
              <a:ext cx="5347074" cy="4565984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56149EF-013C-9B4B-90A9-278284560B6A}"/>
                </a:ext>
              </a:extLst>
            </p:cNvPr>
            <p:cNvSpPr txBox="1"/>
            <p:nvPr/>
          </p:nvSpPr>
          <p:spPr>
            <a:xfrm>
              <a:off x="3422463" y="5486400"/>
              <a:ext cx="53470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/>
                  </a:solidFill>
                </a:rPr>
                <a:t>Figure 4-6: Python Code for Reducer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65286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ACD6-0007-4FA7-96B2-4E79C27F6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Tutorial A: Executing a MapReduce Job with Java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AABBDA-6D6F-481B-866A-83365A9EDE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In this tutorial, you will:</a:t>
            </a:r>
          </a:p>
          <a:p>
            <a:pPr lvl="1"/>
            <a:r>
              <a:rPr lang="en-US" dirty="0"/>
              <a:t>Prepare a MapReduce job written in the Java programming language</a:t>
            </a:r>
          </a:p>
          <a:p>
            <a:pPr lvl="1"/>
            <a:r>
              <a:rPr lang="en-US" dirty="0"/>
              <a:t>Execute the job in Hadoop cluster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20409F-F7E5-4092-A8E4-6A4B158F0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2221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3B352-EFBB-4EC4-BFEC-C01B7AB04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A: Preparing a MapReduce JAR File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C83712-E490-4BC8-85BD-A257A30122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Use Eclipse IDE for Java:</a:t>
            </a:r>
          </a:p>
          <a:p>
            <a:pPr lvl="1"/>
            <a:r>
              <a:rPr lang="en-US" dirty="0"/>
              <a:t>Integrated development environment</a:t>
            </a:r>
          </a:p>
          <a:p>
            <a:pPr lvl="1"/>
            <a:r>
              <a:rPr lang="en-US" dirty="0"/>
              <a:t>Software application that provides comprehensive facilities to computer programmers for software development</a:t>
            </a:r>
          </a:p>
          <a:p>
            <a:r>
              <a:rPr lang="en-US" dirty="0"/>
              <a:t>Found in: </a:t>
            </a:r>
            <a:r>
              <a:rPr lang="en-US" dirty="0">
                <a:hlinkClick r:id="rId2"/>
              </a:rPr>
              <a:t>https://www.eclipse.org/downloads/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58B40A-7934-4930-9C43-FA41A9092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9130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93D5DF-6274-4264-803A-3A222A6DF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7" name="Text Box 135">
            <a:extLst>
              <a:ext uri="{FF2B5EF4-FFF2-40B4-BE49-F238E27FC236}">
                <a16:creationId xmlns:a16="http://schemas.microsoft.com/office/drawing/2014/main" id="{C8CFCD57-565D-421F-A77F-902C37801BBD}"/>
              </a:ext>
            </a:extLst>
          </p:cNvPr>
          <p:cNvSpPr txBox="1"/>
          <p:nvPr/>
        </p:nvSpPr>
        <p:spPr>
          <a:xfrm>
            <a:off x="826168" y="787274"/>
            <a:ext cx="10371221" cy="3913063"/>
          </a:xfrm>
          <a:prstGeom prst="rect">
            <a:avLst/>
          </a:prstGeom>
          <a:solidFill>
            <a:srgbClr val="C6D9F1"/>
          </a:solidFill>
          <a:ln w="6350">
            <a:solidFill>
              <a:srgbClr val="000000"/>
            </a:solidFill>
          </a:ln>
        </p:spPr>
        <p:txBody>
          <a:bodyPr rot="0" spcFirstLastPara="0" vert="horz" wrap="square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42900" marR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i="1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 a new project by selecting: "File =&gt; New =&gt; Java project."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marR="0" indent="-34290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i="1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Enter NYSE in the "Project name:" textbox and use JavaSE-1.8 from the list of versions available under "Use an execution environment JRE."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marR="0" indent="-34290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i="1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selection ensures that the code shown in Figure 4-4 is executed with Java 1.8.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marR="0" indent="-34290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i="1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 "OK."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</a:pPr>
            <a:r>
              <a:rPr lang="en-US" i="1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Right-click on "src" and select "New =&gt; Class" to open the "New Java Class" window. 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marR="0" indent="-34290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i="1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source folder should read NYSE/src. 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marR="0" indent="-34290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i="1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Enter "com.examples" (as suggested in the MapReduce code) in the "Package" textbox. 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marR="0" indent="-34290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i="1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Also, enter "NYSE_example" as the class name in the "Name" box. 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marR="0" indent="-34290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i="1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 "Finish." 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 startAt="3"/>
            </a:pP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 the file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NYSE_Example.java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provided by the instructor or from the textbook’s website and open it with any text editor (Notepad, TextEdit), and copy the code.</a:t>
            </a:r>
            <a:endParaRPr lang="en-US" i="1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</a:pPr>
            <a:r>
              <a:rPr lang="en-US" i="1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Delete everything in the "NYSE_example" window and paste the code from the previous step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ECBA6A-197B-4857-9897-7D37676D9C2B}"/>
              </a:ext>
            </a:extLst>
          </p:cNvPr>
          <p:cNvSpPr txBox="1"/>
          <p:nvPr/>
        </p:nvSpPr>
        <p:spPr>
          <a:xfrm>
            <a:off x="3048000" y="491955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Box 4-10: Creating a New Java project</a:t>
            </a:r>
          </a:p>
        </p:txBody>
      </p:sp>
    </p:spTree>
    <p:extLst>
      <p:ext uri="{BB962C8B-B14F-4D97-AF65-F5344CB8AC3E}">
        <p14:creationId xmlns:p14="http://schemas.microsoft.com/office/powerpoint/2010/main" val="10633352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823511-9928-49BB-BBB5-DF619ED7C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Text Box 136">
            <a:extLst>
              <a:ext uri="{FF2B5EF4-FFF2-40B4-BE49-F238E27FC236}">
                <a16:creationId xmlns:a16="http://schemas.microsoft.com/office/drawing/2014/main" id="{6C8934D3-6E82-4A36-8492-52A17A909669}"/>
              </a:ext>
            </a:extLst>
          </p:cNvPr>
          <p:cNvSpPr txBox="1"/>
          <p:nvPr/>
        </p:nvSpPr>
        <p:spPr>
          <a:xfrm>
            <a:off x="1614135" y="975916"/>
            <a:ext cx="8870089" cy="3970318"/>
          </a:xfrm>
          <a:prstGeom prst="rect">
            <a:avLst/>
          </a:prstGeom>
          <a:solidFill>
            <a:srgbClr val="C6D9F1"/>
          </a:solidFill>
          <a:ln w="6350">
            <a:solidFill>
              <a:srgbClr val="000000"/>
            </a:solidFill>
          </a:ln>
        </p:spPr>
        <p:txBody>
          <a:bodyPr rot="0" spcFirstLastPara="0" vert="horz" wrap="square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marR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Download the  latest version of the hadoop-core JAR file provided in the companion website.</a:t>
            </a: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a "lib" folder in the "NYSE" project.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marR="0" indent="-34290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Right click "NYSE" then "New =&gt; Folder" and choose "lib" as a folder name.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Copy and paste the downloaded hadoop-core JAR from step 1.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Build a path to this JAR: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marR="0" indent="-34290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Right-click on "NYSE" then "Build Path =&gt; Configure Build Path…."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marR="0" indent="-34290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"Libraries" and then "Add JARs…."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marR="0" indent="-34290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 folder "lib" and select the hadoop-core JAR.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marR="0" indent="-34290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 "OK"—Notice that the errors disappear, and the file is ready to be compiled as a MapReduce jar.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5"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Right-click on "NYSE" then "Export… =&gt; Jar file =&gt; Next."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5"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Browse to a particular destination and name the jar file "NYSE.jar". (This should be the name of the job in your Java code at the driver part of the MapReduce program.)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27980A-9CED-4E29-B878-1F9B44C636DC}"/>
              </a:ext>
            </a:extLst>
          </p:cNvPr>
          <p:cNvSpPr txBox="1"/>
          <p:nvPr/>
        </p:nvSpPr>
        <p:spPr>
          <a:xfrm>
            <a:off x="3047999" y="511443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Box 4-11: Steps for Creating a JAR File</a:t>
            </a:r>
          </a:p>
        </p:txBody>
      </p:sp>
    </p:spTree>
    <p:extLst>
      <p:ext uri="{BB962C8B-B14F-4D97-AF65-F5344CB8AC3E}">
        <p14:creationId xmlns:p14="http://schemas.microsoft.com/office/powerpoint/2010/main" val="42205122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50EB-A118-4E33-8B8B-F05625012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A: Executing a MapReduce Job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630A6C-7614-4071-86AB-05787A22E6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4047700" cy="4351338"/>
          </a:xfrm>
        </p:spPr>
        <p:txBody>
          <a:bodyPr/>
          <a:lstStyle/>
          <a:p>
            <a:r>
              <a:rPr lang="en-US" dirty="0"/>
              <a:t>Connect the cluster to a file transfer program:</a:t>
            </a:r>
          </a:p>
          <a:p>
            <a:pPr lvl="1"/>
            <a:r>
              <a:rPr lang="en-US" dirty="0"/>
              <a:t>Bring the JAR file and the input data from the local computer to the Hadoop home directory</a:t>
            </a:r>
          </a:p>
          <a:p>
            <a:pPr lvl="2"/>
            <a:r>
              <a:rPr lang="en-US" dirty="0"/>
              <a:t>For transferring the necessary files from your computer to the cluster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69414-238C-4D7A-AC1A-4A6C4C59B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39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A210B36-AD82-364F-A5B7-104904DAE2D7}"/>
              </a:ext>
            </a:extLst>
          </p:cNvPr>
          <p:cNvGrpSpPr/>
          <p:nvPr/>
        </p:nvGrpSpPr>
        <p:grpSpPr>
          <a:xfrm>
            <a:off x="5404513" y="2086472"/>
            <a:ext cx="6072248" cy="3189089"/>
            <a:chOff x="2407560" y="1293009"/>
            <a:chExt cx="7376879" cy="3586768"/>
          </a:xfrm>
        </p:grpSpPr>
        <p:pic>
          <p:nvPicPr>
            <p:cNvPr id="7" name="Picture 6" descr="A screenshot of a social media post&#10;&#10;Description automatically generated">
              <a:extLst>
                <a:ext uri="{FF2B5EF4-FFF2-40B4-BE49-F238E27FC236}">
                  <a16:creationId xmlns:a16="http://schemas.microsoft.com/office/drawing/2014/main" id="{1B7C2C6C-5DB6-EC4F-AD04-583C05520D0D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07560" y="1293009"/>
              <a:ext cx="7376879" cy="3278991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14F5DDA-F0B3-FC47-8DB0-35839D605B55}"/>
                </a:ext>
              </a:extLst>
            </p:cNvPr>
            <p:cNvSpPr txBox="1"/>
            <p:nvPr/>
          </p:nvSpPr>
          <p:spPr>
            <a:xfrm>
              <a:off x="3047999" y="4572000"/>
              <a:ext cx="6096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/>
                  </a:solidFill>
                </a:rPr>
                <a:t>Figure 4-7: Transferring Files to the Hadoop Home Directory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71950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CD850-1A9D-416A-BE01-9A7817637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Tutorial A: Executing a MapReduce Job (cont.)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EC10E7-04FE-4FE0-8528-7DAB0F0D8E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825625"/>
            <a:ext cx="6428874" cy="4351338"/>
          </a:xfrm>
        </p:spPr>
        <p:txBody>
          <a:bodyPr>
            <a:normAutofit/>
          </a:bodyPr>
          <a:lstStyle/>
          <a:p>
            <a:r>
              <a:rPr lang="en-US" dirty="0"/>
              <a:t>Create the directories where the files will be placed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Upload the input file to the HDFS system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Run the MapReduce JAR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5FA809-90A4-4FE5-9207-2CB9BFE56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3FA32E12-6385-4A03-88F3-CF6F628A0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6666" y="1952362"/>
            <a:ext cx="3937133" cy="923330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-mkdir MR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-mkdir MR/TutorialA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-mkdir MR/TutorialA/input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 Box 139">
            <a:extLst>
              <a:ext uri="{FF2B5EF4-FFF2-40B4-BE49-F238E27FC236}">
                <a16:creationId xmlns:a16="http://schemas.microsoft.com/office/drawing/2014/main" id="{3EC86EF3-2CE2-41B8-BCD8-0D5CFCB2C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982470"/>
            <a:ext cx="7519737" cy="369332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-copyFromLocal NYSE_DATA.txt MR/TutorialA/input/input_data.txt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 Box 141">
            <a:extLst>
              <a:ext uri="{FF2B5EF4-FFF2-40B4-BE49-F238E27FC236}">
                <a16:creationId xmlns:a16="http://schemas.microsoft.com/office/drawing/2014/main" id="{4DA271E3-3C61-4996-B6FC-373E8DE0B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662464"/>
            <a:ext cx="10515599" cy="369332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jar NYSE.jar com.examples.NYSE_example MR/TutorialA/input/input_data.txt MR/TutorialA/output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4875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60A43-B32B-4661-AECE-45915E51D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Tutorial A: Executing a MapReduce Job (cont.)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FF695-35EA-47F3-B161-FC22BE662A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dirty="0"/>
              <a:t>List the output files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Display results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C5559F-F7D2-4C4A-A95D-D8D449E93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7" name="Text Box 142">
            <a:extLst>
              <a:ext uri="{FF2B5EF4-FFF2-40B4-BE49-F238E27FC236}">
                <a16:creationId xmlns:a16="http://schemas.microsoft.com/office/drawing/2014/main" id="{CDB741B1-193E-48D2-8CFC-7689F8CC2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7" y="2651456"/>
            <a:ext cx="3830053" cy="379081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-ls MR/TutorialA/output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computer, people, room, man&#10;&#10;Description automatically generated">
            <a:extLst>
              <a:ext uri="{FF2B5EF4-FFF2-40B4-BE49-F238E27FC236}">
                <a16:creationId xmlns:a16="http://schemas.microsoft.com/office/drawing/2014/main" id="{DDEC4964-7577-42B3-AF98-A0B65621E04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607" y="1935277"/>
            <a:ext cx="6792217" cy="11778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B908902-0996-4263-801C-8B0B82B4C1F6}"/>
              </a:ext>
            </a:extLst>
          </p:cNvPr>
          <p:cNvSpPr txBox="1"/>
          <p:nvPr/>
        </p:nvSpPr>
        <p:spPr>
          <a:xfrm>
            <a:off x="4969041" y="321627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4-8: Result Directories Generated by MapReduce with Java</a:t>
            </a:r>
          </a:p>
        </p:txBody>
      </p:sp>
      <p:sp>
        <p:nvSpPr>
          <p:cNvPr id="13" name="Text Box 148">
            <a:extLst>
              <a:ext uri="{FF2B5EF4-FFF2-40B4-BE49-F238E27FC236}">
                <a16:creationId xmlns:a16="http://schemas.microsoft.com/office/drawing/2014/main" id="{F7952CCB-6F74-41F3-89C0-F9CB14E18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197" y="4200778"/>
            <a:ext cx="4225410" cy="369332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-cat /MR/TutorialA/output/p*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A screen shot of a social media post&#10;&#10;Description automatically generated">
            <a:extLst>
              <a:ext uri="{FF2B5EF4-FFF2-40B4-BE49-F238E27FC236}">
                <a16:creationId xmlns:a16="http://schemas.microsoft.com/office/drawing/2014/main" id="{E653627D-BA72-41AE-A115-D13520E1A8E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290" y="4176306"/>
            <a:ext cx="1951604" cy="109988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A67848B-FDF2-444B-B288-27D96277018A}"/>
              </a:ext>
            </a:extLst>
          </p:cNvPr>
          <p:cNvSpPr txBox="1"/>
          <p:nvPr/>
        </p:nvSpPr>
        <p:spPr>
          <a:xfrm>
            <a:off x="4969041" y="527619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4-9: Results of MapReduce with Java</a:t>
            </a:r>
          </a:p>
        </p:txBody>
      </p:sp>
    </p:spTree>
    <p:extLst>
      <p:ext uri="{BB962C8B-B14F-4D97-AF65-F5344CB8AC3E}">
        <p14:creationId xmlns:p14="http://schemas.microsoft.com/office/powerpoint/2010/main" val="6095289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401B6-CC0E-4012-9E61-9751481BA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Tutorial A: Executing a MapReduce Job (cont.)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F64887-F7B0-405C-B734-73C4EF5A5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6" name="Text Box 149">
            <a:extLst>
              <a:ext uri="{FF2B5EF4-FFF2-40B4-BE49-F238E27FC236}">
                <a16:creationId xmlns:a16="http://schemas.microsoft.com/office/drawing/2014/main" id="{876B1B3D-0E65-46B9-A6CD-F3B92C66BB37}"/>
              </a:ext>
            </a:extLst>
          </p:cNvPr>
          <p:cNvSpPr txBox="1"/>
          <p:nvPr/>
        </p:nvSpPr>
        <p:spPr>
          <a:xfrm>
            <a:off x="909958" y="2033337"/>
            <a:ext cx="10372083" cy="2031325"/>
          </a:xfrm>
          <a:prstGeom prst="rect">
            <a:avLst/>
          </a:prstGeom>
          <a:solidFill>
            <a:srgbClr val="C6D9F1"/>
          </a:solidFill>
          <a:ln w="6350">
            <a:solidFill>
              <a:srgbClr val="000000"/>
            </a:solidFill>
          </a:ln>
        </p:spPr>
        <p:txBody>
          <a:bodyPr rot="0" spcFirstLastPara="0" vert="horz" wrap="square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-mkdir MR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-mkdir MR/TutorialA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-mkdir MR/TutorialA/input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-copyFromLocal NYSE_DATA.txt MR/TutorialA/input/input_data.txt                             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jar NYSE.jar com.examples.NYSE_example  MR/TutorialA/input/input_data.txt MR/TutorialA/output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-ls MR/TutorialA/output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-cat MR/TutorialA/output/p*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340B2-A024-44A2-BCAD-22CAD097287A}"/>
              </a:ext>
            </a:extLst>
          </p:cNvPr>
          <p:cNvSpPr txBox="1"/>
          <p:nvPr/>
        </p:nvSpPr>
        <p:spPr>
          <a:xfrm>
            <a:off x="3047999" y="423803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Box 4-12: List of Commands to Execute the Java MapReduce Job</a:t>
            </a:r>
          </a:p>
        </p:txBody>
      </p:sp>
    </p:spTree>
    <p:extLst>
      <p:ext uri="{BB962C8B-B14F-4D97-AF65-F5344CB8AC3E}">
        <p14:creationId xmlns:p14="http://schemas.microsoft.com/office/powerpoint/2010/main" val="37461746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54AA7-0AF0-49B2-BE35-4D4F1764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114" y="435141"/>
            <a:ext cx="11017624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Tutorial B: Executing a MapReduce Job with Python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5293D-3DE0-4693-BABA-6C4F472899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087299"/>
            <a:ext cx="10872538" cy="4024743"/>
          </a:xfrm>
        </p:spPr>
        <p:txBody>
          <a:bodyPr/>
          <a:lstStyle/>
          <a:p>
            <a:r>
              <a:rPr lang="en-US" dirty="0"/>
              <a:t>In this tutorial, you will:</a:t>
            </a:r>
          </a:p>
          <a:p>
            <a:pPr lvl="1"/>
            <a:r>
              <a:rPr lang="en-US" dirty="0"/>
              <a:t>Prepare the mapper and reducer written in the Python programming language</a:t>
            </a:r>
          </a:p>
          <a:p>
            <a:pPr lvl="1"/>
            <a:r>
              <a:rPr lang="en-US" dirty="0"/>
              <a:t>Execute the job in Hadoop cluster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67EB0-8358-4DFD-BE27-C9562CC21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2363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369CB-A245-480B-BC9B-F7B28F02F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Tutorial B: Preparing Mapper and Reducer Python Files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1AAB7-5444-4FBA-BD88-B86DE33262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2013355"/>
            <a:ext cx="10631905" cy="3462535"/>
          </a:xfrm>
        </p:spPr>
        <p:txBody>
          <a:bodyPr/>
          <a:lstStyle/>
          <a:p>
            <a:r>
              <a:rPr lang="en-US" dirty="0"/>
              <a:t>Use a Python integrated development environment (IDE)</a:t>
            </a:r>
          </a:p>
          <a:p>
            <a:pPr lvl="1"/>
            <a:r>
              <a:rPr lang="en-US" dirty="0"/>
              <a:t>Example: PyScripter</a:t>
            </a:r>
          </a:p>
          <a:p>
            <a:pPr lvl="1"/>
            <a:r>
              <a:rPr lang="en-US" dirty="0"/>
              <a:t>Found at </a:t>
            </a:r>
            <a:r>
              <a:rPr lang="en-US" dirty="0">
                <a:hlinkClick r:id="rId2"/>
              </a:rPr>
              <a:t>https://sourceforge.net/projects/pyscripter/</a:t>
            </a:r>
            <a:endParaRPr lang="en-US" dirty="0"/>
          </a:p>
          <a:p>
            <a:r>
              <a:rPr lang="en-US" dirty="0"/>
              <a:t>Start two new Python modules</a:t>
            </a:r>
          </a:p>
          <a:p>
            <a:pPr lvl="1"/>
            <a:r>
              <a:rPr lang="en-US" dirty="0"/>
              <a:t>One for mapper</a:t>
            </a:r>
          </a:p>
          <a:p>
            <a:pPr lvl="1"/>
            <a:r>
              <a:rPr lang="en-US" dirty="0"/>
              <a:t>One for reducer</a:t>
            </a:r>
          </a:p>
          <a:p>
            <a:pPr lvl="1"/>
            <a:r>
              <a:rPr lang="en-US" dirty="0"/>
              <a:t>Paste the respective codes in the respective files for the mapper and reducer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21841-A5E8-4782-A477-5DB8BD342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8790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9F292-8E90-44D7-9458-1C32254E3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Tutorial B: Executing the MapReduce Job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B5FF8-DECB-42AC-AE43-AFD7CC4F32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Create the directories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Transfer the input file to the HDFS system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7EBE27-D2AC-4FD2-853D-6661410CE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0D73B431-17F9-4FE2-823C-76735EE53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4738" y="2507674"/>
            <a:ext cx="4965552" cy="923330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-ls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-mkdir MR/TutorialB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-mkdir MR/TutorialB/input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 Box 151">
            <a:extLst>
              <a:ext uri="{FF2B5EF4-FFF2-40B4-BE49-F238E27FC236}">
                <a16:creationId xmlns:a16="http://schemas.microsoft.com/office/drawing/2014/main" id="{9AEE2620-FDF3-41A7-8DE9-0704B4406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456" y="4693237"/>
            <a:ext cx="7214228" cy="369332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-copyFromLocal NYSE_DATA.txt MR/TutorialB/input/input.txt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6582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4AEEF-CF32-4623-A0FC-F5F0C0ECB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Tutorial B: Executing the MapReduce Job (cont.)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ADF196-10AC-4E34-94E9-C62568B451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825625"/>
            <a:ext cx="6172201" cy="4351338"/>
          </a:xfrm>
        </p:spPr>
        <p:txBody>
          <a:bodyPr/>
          <a:lstStyle/>
          <a:p>
            <a:r>
              <a:rPr lang="en-US" dirty="0"/>
              <a:t>Create the mapper and reducer files with a '.</a:t>
            </a:r>
            <a:r>
              <a:rPr lang="en-US" dirty="0" err="1"/>
              <a:t>py</a:t>
            </a:r>
            <a:r>
              <a:rPr lang="en-US" dirty="0"/>
              <a:t>' extension</a:t>
            </a:r>
          </a:p>
          <a:p>
            <a:endParaRPr lang="en-US" dirty="0"/>
          </a:p>
          <a:p>
            <a:r>
              <a:rPr lang="en-US" dirty="0"/>
              <a:t>Paste the code from the IDE into the files accordingly</a:t>
            </a:r>
          </a:p>
          <a:p>
            <a:r>
              <a:rPr lang="en-US" dirty="0"/>
              <a:t>Make the files executable by the commands: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0FA30-F4C2-4DFE-BED7-7D355BC4A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7" name="Text Box 152">
            <a:extLst>
              <a:ext uri="{FF2B5EF4-FFF2-40B4-BE49-F238E27FC236}">
                <a16:creationId xmlns:a16="http://schemas.microsoft.com/office/drawing/2014/main" id="{07C4C5C7-DC84-4AFF-A4C9-DC42514DD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6738" y="1958572"/>
            <a:ext cx="2987842" cy="646331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nano mapper.py</a:t>
            </a:r>
            <a:endParaRPr lang="en-US" i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nano reducer.py</a:t>
            </a:r>
            <a:endParaRPr lang="en-US" i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 Box 153">
            <a:extLst>
              <a:ext uri="{FF2B5EF4-FFF2-40B4-BE49-F238E27FC236}">
                <a16:creationId xmlns:a16="http://schemas.microsoft.com/office/drawing/2014/main" id="{EF5245E0-BFAA-49B3-880E-BCB3DD8AB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6738" y="4978878"/>
            <a:ext cx="3041082" cy="646331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chmod +x mapper.py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chmod +x reducer.py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5273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C18D8-6A54-42C9-9A08-5C2C102C0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Tutorial B: Executing the MapReduce Job (cont.)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850D1-9AF6-4DF1-9A04-8D569D493D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Python:</a:t>
            </a:r>
          </a:p>
          <a:p>
            <a:pPr lvl="1"/>
            <a:r>
              <a:rPr lang="en-US" dirty="0"/>
              <a:t>Reads data from standard input</a:t>
            </a:r>
          </a:p>
          <a:p>
            <a:pPr lvl="1"/>
            <a:r>
              <a:rPr lang="en-US" dirty="0"/>
              <a:t>Writes to standard output</a:t>
            </a:r>
          </a:p>
          <a:p>
            <a:r>
              <a:rPr lang="en-US" dirty="0"/>
              <a:t>Hadoop Streaming utility:</a:t>
            </a:r>
          </a:p>
          <a:p>
            <a:pPr lvl="1"/>
            <a:r>
              <a:rPr lang="en-US" dirty="0"/>
              <a:t>Comes with Hadoop distribution</a:t>
            </a:r>
          </a:p>
          <a:p>
            <a:pPr lvl="1"/>
            <a:r>
              <a:rPr lang="en-US" dirty="0"/>
              <a:t>Supports Python</a:t>
            </a:r>
          </a:p>
          <a:p>
            <a:r>
              <a:rPr lang="en-US" dirty="0"/>
              <a:t>Locate the required JAR file using: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2E46E-7524-4D99-AA0F-DB2B43CC8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Text Box 154">
            <a:extLst>
              <a:ext uri="{FF2B5EF4-FFF2-40B4-BE49-F238E27FC236}">
                <a16:creationId xmlns:a16="http://schemas.microsoft.com/office/drawing/2014/main" id="{9B617A40-6950-4C4F-A879-BE8575152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599965"/>
            <a:ext cx="4670164" cy="369332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find /usr/lib/ -name *hadoop*streaming*.jar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E4B57D5C-A992-42E6-89EF-F099B3B777F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565" y="4581045"/>
            <a:ext cx="5872117" cy="11224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A504B1-071B-4E32-A4F7-10C9AD24485F}"/>
              </a:ext>
            </a:extLst>
          </p:cNvPr>
          <p:cNvSpPr txBox="1"/>
          <p:nvPr/>
        </p:nvSpPr>
        <p:spPr>
          <a:xfrm>
            <a:off x="5759824" y="583840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4-10: Hadoop Streaming Location</a:t>
            </a:r>
          </a:p>
        </p:txBody>
      </p:sp>
    </p:spTree>
    <p:extLst>
      <p:ext uri="{BB962C8B-B14F-4D97-AF65-F5344CB8AC3E}">
        <p14:creationId xmlns:p14="http://schemas.microsoft.com/office/powerpoint/2010/main" val="10253295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44044-BD85-4A50-8704-1712F3612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Tutorial B: Executing the MapReduce Job (cont.)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5372C4-02C0-4A40-8A4D-F80AD8472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792395"/>
            <a:ext cx="4526981" cy="4351338"/>
          </a:xfrm>
        </p:spPr>
        <p:txBody>
          <a:bodyPr/>
          <a:lstStyle/>
          <a:p>
            <a:r>
              <a:rPr lang="en-US" dirty="0"/>
              <a:t>Run the MapReduce job: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Display the deliverables of the program: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8C7068-8F89-491B-A57C-A3F4D09DD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6" name="Text Box 162">
            <a:extLst>
              <a:ext uri="{FF2B5EF4-FFF2-40B4-BE49-F238E27FC236}">
                <a16:creationId xmlns:a16="http://schemas.microsoft.com/office/drawing/2014/main" id="{BC264922-F0A2-4819-9B7C-14E53A273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199" y="2501910"/>
            <a:ext cx="9444789" cy="646331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jar /usr/lib/hadoop/hadoop-streaming.jar -files mapper.py,reducer.py -mapper mapper.py -reducer reducer.py -input MR/TutorialB/input/input.txt -output MR/TutorialB/output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 Box 163">
            <a:extLst>
              <a:ext uri="{FF2B5EF4-FFF2-40B4-BE49-F238E27FC236}">
                <a16:creationId xmlns:a16="http://schemas.microsoft.com/office/drawing/2014/main" id="{1D4375EA-F10F-407A-8EF8-6EB6FEAC6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199" y="5224071"/>
            <a:ext cx="3837272" cy="369332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-ls MR/TutorialB/output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computer, people, room&#10;&#10;Description automatically generated">
            <a:extLst>
              <a:ext uri="{FF2B5EF4-FFF2-40B4-BE49-F238E27FC236}">
                <a16:creationId xmlns:a16="http://schemas.microsoft.com/office/drawing/2014/main" id="{2F549E54-2D83-46B3-8982-966B8110F9B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181" y="4710808"/>
            <a:ext cx="6434689" cy="10594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5C0A44B-5027-4FDB-ACBE-7279D186586B}"/>
              </a:ext>
            </a:extLst>
          </p:cNvPr>
          <p:cNvSpPr txBox="1"/>
          <p:nvPr/>
        </p:nvSpPr>
        <p:spPr>
          <a:xfrm>
            <a:off x="5534525" y="583858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4-11: Result Directories Generated by MapReduce with Python</a:t>
            </a:r>
          </a:p>
        </p:txBody>
      </p:sp>
    </p:spTree>
    <p:extLst>
      <p:ext uri="{BB962C8B-B14F-4D97-AF65-F5344CB8AC3E}">
        <p14:creationId xmlns:p14="http://schemas.microsoft.com/office/powerpoint/2010/main" val="6324418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E402B-004A-45C4-8EF4-05FB6E4D9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Tutorial B: Executing the MapReduce Job (cont.)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60C37-990F-40D0-A0E4-9BBD501F63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Display the results of the program: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09D41-5399-4693-B650-9EF980B59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6" name="Text Box 164">
            <a:extLst>
              <a:ext uri="{FF2B5EF4-FFF2-40B4-BE49-F238E27FC236}">
                <a16:creationId xmlns:a16="http://schemas.microsoft.com/office/drawing/2014/main" id="{C81163EC-E542-4185-8170-E5A21F217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914501"/>
            <a:ext cx="4375484" cy="369332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-cat MR/TutorialB/output/p*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screen shot of a social media post&#10;&#10;Description automatically generated">
            <a:extLst>
              <a:ext uri="{FF2B5EF4-FFF2-40B4-BE49-F238E27FC236}">
                <a16:creationId xmlns:a16="http://schemas.microsoft.com/office/drawing/2014/main" id="{BE6D86D1-624A-4D5D-9BD8-6EAFE78CBED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448" y="1958270"/>
            <a:ext cx="1545176" cy="11422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22093B-040C-47EC-98B3-5F5522011664}"/>
              </a:ext>
            </a:extLst>
          </p:cNvPr>
          <p:cNvSpPr txBox="1"/>
          <p:nvPr/>
        </p:nvSpPr>
        <p:spPr>
          <a:xfrm>
            <a:off x="5257800" y="323548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4-12: Results of MapReduce with Python</a:t>
            </a:r>
          </a:p>
        </p:txBody>
      </p:sp>
    </p:spTree>
    <p:extLst>
      <p:ext uri="{BB962C8B-B14F-4D97-AF65-F5344CB8AC3E}">
        <p14:creationId xmlns:p14="http://schemas.microsoft.com/office/powerpoint/2010/main" val="10306230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843667-168A-4676-ABBA-C0B4CA4AA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6" name="Text Box 165">
            <a:extLst>
              <a:ext uri="{FF2B5EF4-FFF2-40B4-BE49-F238E27FC236}">
                <a16:creationId xmlns:a16="http://schemas.microsoft.com/office/drawing/2014/main" id="{0C316C8D-B79F-4F5D-92C3-9BE175DBC9FC}"/>
              </a:ext>
            </a:extLst>
          </p:cNvPr>
          <p:cNvSpPr txBox="1"/>
          <p:nvPr/>
        </p:nvSpPr>
        <p:spPr>
          <a:xfrm>
            <a:off x="1482740" y="1274485"/>
            <a:ext cx="9226517" cy="3970318"/>
          </a:xfrm>
          <a:prstGeom prst="rect">
            <a:avLst/>
          </a:prstGeom>
          <a:solidFill>
            <a:srgbClr val="C6D9F1"/>
          </a:solidFill>
          <a:ln w="6350">
            <a:solidFill>
              <a:srgbClr val="000000"/>
            </a:solidFill>
          </a:ln>
        </p:spPr>
        <p:txBody>
          <a:bodyPr rot="0" spcFirstLastPara="0" vert="horz" wrap="square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-ls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-mkdir MR/TutorialB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-mkdir MR/TutorialB/input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-copyFromLocal NYSE_DATA.txt MR/TutorialB/input/input.txt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nano mapper.py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nano reducer.py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chmod +x mapper.py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chmod +x reducer.py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find /usr/lib/ -name *hadoop*streaming*.jar                               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jar /usr/lib/hadoop/hadoop-streaming.jar -files mapper.py,reducer.py -mapper mapper.py -reducer reducer.py -input MR/TutorialB/input/input.txt -output MR/TutorialB/output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-ls /MR/TutorialB/output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-cat /MR/TutorialB/output/p*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3DB330-F5E7-485F-8D80-AD3617576A6B}"/>
              </a:ext>
            </a:extLst>
          </p:cNvPr>
          <p:cNvSpPr txBox="1"/>
          <p:nvPr/>
        </p:nvSpPr>
        <p:spPr>
          <a:xfrm>
            <a:off x="3047998" y="550316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Box 4-13: List of Commands to Execute the Python MapReduce Job</a:t>
            </a:r>
          </a:p>
        </p:txBody>
      </p:sp>
    </p:spTree>
    <p:extLst>
      <p:ext uri="{BB962C8B-B14F-4D97-AF65-F5344CB8AC3E}">
        <p14:creationId xmlns:p14="http://schemas.microsoft.com/office/powerpoint/2010/main" val="41994138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FD7B3-963E-4115-AD34-2F0223726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and Takeaways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C83B6-9D0F-4387-82DC-65FFFFCE89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3324444"/>
          </a:xfrm>
        </p:spPr>
        <p:txBody>
          <a:bodyPr>
            <a:normAutofit/>
          </a:bodyPr>
          <a:lstStyle/>
          <a:p>
            <a:r>
              <a:rPr lang="en-US" sz="2400" dirty="0"/>
              <a:t>MapReduce:</a:t>
            </a:r>
          </a:p>
          <a:p>
            <a:pPr lvl="1"/>
            <a:r>
              <a:rPr lang="en-US" sz="2000" dirty="0"/>
              <a:t>The most fundamental algorithm for processing Big Data in a distributed file system </a:t>
            </a:r>
          </a:p>
          <a:p>
            <a:pPr lvl="1"/>
            <a:r>
              <a:rPr lang="en-US" sz="2000" dirty="0"/>
              <a:t>Called an embarrassingly parallel algorithm</a:t>
            </a:r>
          </a:p>
          <a:p>
            <a:pPr lvl="2"/>
            <a:r>
              <a:rPr lang="en-US" sz="1800" dirty="0"/>
              <a:t>Can be separated into a number of parallel tasks</a:t>
            </a:r>
          </a:p>
          <a:p>
            <a:pPr lvl="1"/>
            <a:r>
              <a:rPr lang="en-US" sz="2000" dirty="0"/>
              <a:t>The patterns covered can be tweaked to perform similar tasks</a:t>
            </a:r>
          </a:p>
          <a:p>
            <a:pPr lvl="2"/>
            <a:r>
              <a:rPr lang="en-US" sz="1800" dirty="0"/>
              <a:t>Example: a slight change in the reducer of the NYSE algorithm can produce other results</a:t>
            </a:r>
          </a:p>
          <a:p>
            <a:r>
              <a:rPr lang="en-US" sz="2400" dirty="0"/>
              <a:t>The divide and conquer approach:</a:t>
            </a:r>
          </a:p>
          <a:p>
            <a:pPr lvl="1"/>
            <a:r>
              <a:rPr lang="en-US" sz="2000" dirty="0"/>
              <a:t>Allows the processing of a large number of records and text within a short amount of time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F66F3-EACE-4214-96F3-74C30C298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1341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5E68C-12E6-4B7B-B902-5CA68FD84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and Takeaways (cont.)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86FE4-C983-4A0C-BD68-5B9A81BB34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825625"/>
            <a:ext cx="10515599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mapper and reducer (and sometimes the combiner) work together through:</a:t>
            </a:r>
          </a:p>
          <a:p>
            <a:pPr lvl="1"/>
            <a:r>
              <a:rPr lang="en-US" dirty="0"/>
              <a:t>Input-output formats (key, value)</a:t>
            </a:r>
          </a:p>
          <a:p>
            <a:r>
              <a:rPr lang="en-US" dirty="0"/>
              <a:t>Mapper requires:</a:t>
            </a:r>
          </a:p>
          <a:p>
            <a:pPr lvl="1"/>
            <a:r>
              <a:rPr lang="en-US" dirty="0"/>
              <a:t>Input file =&gt; (byte_offset, line) structure</a:t>
            </a:r>
          </a:p>
          <a:p>
            <a:r>
              <a:rPr lang="en-US" dirty="0"/>
              <a:t>Reducer:</a:t>
            </a:r>
          </a:p>
          <a:p>
            <a:pPr lvl="1"/>
            <a:r>
              <a:rPr lang="en-US" dirty="0"/>
              <a:t>Reads the data from the mapper in the (key, value) format</a:t>
            </a:r>
          </a:p>
          <a:p>
            <a:pPr lvl="1"/>
            <a:r>
              <a:rPr lang="en-US" dirty="0"/>
              <a:t>Processes (mostly aggregates) them</a:t>
            </a:r>
          </a:p>
          <a:p>
            <a:pPr lvl="1"/>
            <a:r>
              <a:rPr lang="en-US" dirty="0"/>
              <a:t>Stores the output in a proper (key, value) format</a:t>
            </a:r>
          </a:p>
          <a:p>
            <a:r>
              <a:rPr lang="en-US" dirty="0"/>
              <a:t>MapReduce:</a:t>
            </a:r>
          </a:p>
          <a:p>
            <a:pPr lvl="1"/>
            <a:r>
              <a:rPr lang="en-US" dirty="0"/>
              <a:t>Powerful technique to perform text-mining analysis</a:t>
            </a:r>
          </a:p>
          <a:p>
            <a:pPr lvl="2"/>
            <a:r>
              <a:rPr lang="en-US" dirty="0"/>
              <a:t>WordCount algorithm (generate the frequency of all words, the frequency of a set of keywords, or sensitivity analysis)</a:t>
            </a:r>
          </a:p>
          <a:p>
            <a:pPr lvl="1"/>
            <a:r>
              <a:rPr lang="en-US" dirty="0"/>
              <a:t>Performs iterative message processing</a:t>
            </a:r>
          </a:p>
          <a:p>
            <a:pPr lvl="2"/>
            <a:r>
              <a:rPr lang="en-US" dirty="0"/>
              <a:t>Product associations (providing recommendations of products that are most likely to be purchased by a customer during their next visit to a store or website)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642388-8E85-416D-BFC9-88D663409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6035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3C7F-FEA0-4D6B-959D-107D1E7D5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and Takeaways (cont.)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F9F68-2774-41EF-924A-7EA0FD7612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The NYSE example illustration:</a:t>
            </a:r>
          </a:p>
          <a:p>
            <a:pPr lvl="1"/>
            <a:r>
              <a:rPr lang="en-US" sz="2000" dirty="0"/>
              <a:t>MapReduce in Java code has four major parts: </a:t>
            </a:r>
          </a:p>
          <a:p>
            <a:pPr lvl="2"/>
            <a:r>
              <a:rPr lang="en-US" sz="1800" dirty="0"/>
              <a:t>The import section, the mapper component, the reducer component, and the driver of the program</a:t>
            </a:r>
          </a:p>
          <a:p>
            <a:r>
              <a:rPr lang="en-US" sz="2400" dirty="0"/>
              <a:t>Execution of MapReduce in the cluster involves two main stages:</a:t>
            </a:r>
          </a:p>
          <a:p>
            <a:pPr lvl="1"/>
            <a:r>
              <a:rPr lang="en-US" sz="2000" dirty="0"/>
              <a:t>Preparing the MapReduce JAR:</a:t>
            </a:r>
          </a:p>
          <a:p>
            <a:pPr lvl="2"/>
            <a:r>
              <a:rPr lang="en-US" sz="1800" dirty="0"/>
              <a:t>Compile the Java code and the Hadoop core into a Java archived file</a:t>
            </a:r>
          </a:p>
          <a:p>
            <a:pPr lvl="1"/>
            <a:r>
              <a:rPr lang="en-US" sz="2000" dirty="0"/>
              <a:t>Executing the MapReduce job</a:t>
            </a:r>
          </a:p>
          <a:p>
            <a:pPr lvl="2"/>
            <a:r>
              <a:rPr lang="en-US" sz="1800" dirty="0"/>
              <a:t>Upload the input file into the cluster</a:t>
            </a:r>
          </a:p>
          <a:p>
            <a:pPr lvl="2"/>
            <a:r>
              <a:rPr lang="en-US" sz="1800" dirty="0"/>
              <a:t>Run the Hadoop jar command to indicate:</a:t>
            </a:r>
          </a:p>
          <a:p>
            <a:pPr lvl="3"/>
            <a:r>
              <a:rPr lang="en-US" sz="1600" dirty="0"/>
              <a:t>JAR name, class hierarchy, directory location of the input file, and directory location of the output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6DE99D-2A94-4FE9-94A5-88A21EC86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800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3E97CE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Custom 2">
      <a:dk1>
        <a:srgbClr val="3E97CE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1211</TotalTime>
  <Words>3894</Words>
  <Application>Microsoft Macintosh PowerPoint</Application>
  <PresentationFormat>Widescreen</PresentationFormat>
  <Paragraphs>506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Arial</vt:lpstr>
      <vt:lpstr>Calibri</vt:lpstr>
      <vt:lpstr>Courier New</vt:lpstr>
      <vt:lpstr>Times New Roman</vt:lpstr>
      <vt:lpstr>Wingdings</vt:lpstr>
      <vt:lpstr>Office Theme</vt:lpstr>
      <vt:lpstr>Custom Design</vt:lpstr>
      <vt:lpstr>Chapter 4</vt:lpstr>
      <vt:lpstr>Big Data Application: Social Media Influencers</vt:lpstr>
      <vt:lpstr>Introduction</vt:lpstr>
      <vt:lpstr>Introduction (cont.)</vt:lpstr>
      <vt:lpstr>Chapter Objectives:</vt:lpstr>
      <vt:lpstr>The MapReduce Concept </vt:lpstr>
      <vt:lpstr>The Main Components of MapReduce</vt:lpstr>
      <vt:lpstr>Mapper</vt:lpstr>
      <vt:lpstr>Reducer</vt:lpstr>
      <vt:lpstr>PowerPoint Presentation</vt:lpstr>
      <vt:lpstr>MapReduce Illustration</vt:lpstr>
      <vt:lpstr>MapReduce Illustration: Mapper</vt:lpstr>
      <vt:lpstr>MapReduce Illustration: Shuffling</vt:lpstr>
      <vt:lpstr>MapReduce Illustration: Reducer</vt:lpstr>
      <vt:lpstr>The Pseudocode of MapReduce</vt:lpstr>
      <vt:lpstr>The Pseudocode of MapReduce: Mapper</vt:lpstr>
      <vt:lpstr>The Pseudocode of MapReduce: Reducer</vt:lpstr>
      <vt:lpstr>The Pseudocode of MapReduce: Combiner</vt:lpstr>
      <vt:lpstr>PowerPoint Presentation</vt:lpstr>
      <vt:lpstr>Why Is Combiner Important?</vt:lpstr>
      <vt:lpstr>PowerPoint Presentation</vt:lpstr>
      <vt:lpstr>PowerPoint Presentation</vt:lpstr>
      <vt:lpstr>Driver</vt:lpstr>
      <vt:lpstr>MapReduce Patterns and Examples</vt:lpstr>
      <vt:lpstr>WordCount Algorithm</vt:lpstr>
      <vt:lpstr>PowerPoint Presentation</vt:lpstr>
      <vt:lpstr>Pseudocode for WordCount: Mapper</vt:lpstr>
      <vt:lpstr>Pseudocode for WordCount: Reducer </vt:lpstr>
      <vt:lpstr>Variations of the WordCount Algorithm</vt:lpstr>
      <vt:lpstr>Variations of the WordCount Algorithm (cont.)</vt:lpstr>
      <vt:lpstr>Variations of the WordCount Algorithm (cont.) </vt:lpstr>
      <vt:lpstr>The MapReduce in Java</vt:lpstr>
      <vt:lpstr>PowerPoint Presentation</vt:lpstr>
      <vt:lpstr>The MapReduce in Python</vt:lpstr>
      <vt:lpstr>Tutorial A: Executing a MapReduce Job with Java</vt:lpstr>
      <vt:lpstr>Tutorial A: Preparing a MapReduce JAR File</vt:lpstr>
      <vt:lpstr>PowerPoint Presentation</vt:lpstr>
      <vt:lpstr>PowerPoint Presentation</vt:lpstr>
      <vt:lpstr>Tutorial A: Executing a MapReduce Job</vt:lpstr>
      <vt:lpstr>Tutorial A: Executing a MapReduce Job (cont.)</vt:lpstr>
      <vt:lpstr>Tutorial A: Executing a MapReduce Job (cont.)</vt:lpstr>
      <vt:lpstr>Tutorial A: Executing a MapReduce Job (cont.)</vt:lpstr>
      <vt:lpstr>Tutorial B: Executing a MapReduce Job with Python</vt:lpstr>
      <vt:lpstr>Tutorial B: Preparing Mapper and Reducer Python Files </vt:lpstr>
      <vt:lpstr>Tutorial B: Executing the MapReduce Job</vt:lpstr>
      <vt:lpstr>Tutorial B: Executing the MapReduce Job (cont.)</vt:lpstr>
      <vt:lpstr>Tutorial B: Executing the MapReduce Job (cont.)</vt:lpstr>
      <vt:lpstr>Tutorial B: Executing the MapReduce Job (cont.)</vt:lpstr>
      <vt:lpstr>Tutorial B: Executing the MapReduce Job (cont.)</vt:lpstr>
      <vt:lpstr>PowerPoint Presentation</vt:lpstr>
      <vt:lpstr>Summary and Takeaways</vt:lpstr>
      <vt:lpstr>Summary and Takeaways (cont.)</vt:lpstr>
      <vt:lpstr>Summary and Takeaways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- 10</dc:title>
  <dc:creator>Kristjan Pashollari</dc:creator>
  <cp:lastModifiedBy>Asllani, Beni</cp:lastModifiedBy>
  <cp:revision>70</cp:revision>
  <dcterms:created xsi:type="dcterms:W3CDTF">2020-10-07T21:17:55Z</dcterms:created>
  <dcterms:modified xsi:type="dcterms:W3CDTF">2021-03-21T17:18:10Z</dcterms:modified>
</cp:coreProperties>
</file>